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91" r:id="rId2"/>
    <p:sldId id="257" r:id="rId3"/>
    <p:sldId id="258" r:id="rId4"/>
    <p:sldId id="259" r:id="rId5"/>
    <p:sldId id="260" r:id="rId6"/>
    <p:sldId id="292" r:id="rId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91" autoAdjust="0"/>
    <p:restoredTop sz="94502" autoAdjust="0"/>
  </p:normalViewPr>
  <p:slideViewPr>
    <p:cSldViewPr>
      <p:cViewPr varScale="1">
        <p:scale>
          <a:sx n="110" d="100"/>
          <a:sy n="110" d="100"/>
        </p:scale>
        <p:origin x="96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30CFF-3EA6-47A3-84EA-474B3F231F7E}" type="datetimeFigureOut">
              <a:rPr lang="en-IN" smtClean="0"/>
              <a:pPr/>
              <a:t>16-09-2026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240C00-5EA3-4A81-AE1C-F2ED2FDE199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38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40C00-5EA3-4A81-AE1C-F2ED2FDE1997}" type="slidenum">
              <a:rPr lang="en-IN" smtClean="0"/>
              <a:pPr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037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40C00-5EA3-4A81-AE1C-F2ED2FDE1997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33875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40C00-5EA3-4A81-AE1C-F2ED2FDE1997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770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	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40C00-5EA3-4A81-AE1C-F2ED2FDE1997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76682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240C00-5EA3-4A81-AE1C-F2ED2FDE1997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622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1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1" i="1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1" i="1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50" b="1" i="1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pPr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54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6356247"/>
            <a:ext cx="12192000" cy="5017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90703" y="271244"/>
            <a:ext cx="1441450" cy="3136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50" b="1" i="1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1620" y="1898014"/>
            <a:ext cx="5652770" cy="1975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9/16/2026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68405" y="6441271"/>
            <a:ext cx="173990" cy="1962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r="59916"/>
          <a:stretch/>
        </p:blipFill>
        <p:spPr>
          <a:xfrm>
            <a:off x="7472584" y="16764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800219"/>
          </a:xfrm>
        </p:spPr>
        <p:txBody>
          <a:bodyPr/>
          <a:lstStyle/>
          <a:p>
            <a:endParaRPr lang="en-US" b="1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VERIFEX AI : </a:t>
            </a:r>
            <a:r>
              <a:rPr lang="en-US" sz="1800" b="1" i="1" dirty="0">
                <a:solidFill>
                  <a:schemeClr val="tx1"/>
                </a:solidFill>
              </a:rPr>
              <a:t>AI-Powered Identity &amp; Document Forensics for Secure Border Screening</a:t>
            </a:r>
            <a:endParaRPr 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600200"/>
            <a:ext cx="592455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26023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000" b="1" dirty="0"/>
              <a:t>Al-Based Fake Identity &amp; Document Screening System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 err="1"/>
              <a:t>Blockchain</a:t>
            </a:r>
            <a:r>
              <a:rPr lang="en-US" sz="2400" b="1" dirty="0"/>
              <a:t> &amp; </a:t>
            </a:r>
            <a:r>
              <a:rPr lang="en-US" sz="2400" b="1" dirty="0" err="1"/>
              <a:t>Cybersecurity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RISU NEXORA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A33BC2-FD1E-93AE-A4F9-C9190260118E}"/>
              </a:ext>
            </a:extLst>
          </p:cNvPr>
          <p:cNvSpPr txBox="1"/>
          <p:nvPr/>
        </p:nvSpPr>
        <p:spPr>
          <a:xfrm>
            <a:off x="1256196" y="157525"/>
            <a:ext cx="96358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91382-1780-8C5A-8E38-67BF1F0E0ED8}"/>
              </a:ext>
            </a:extLst>
          </p:cNvPr>
          <p:cNvSpPr txBox="1"/>
          <p:nvPr/>
        </p:nvSpPr>
        <p:spPr>
          <a:xfrm>
            <a:off x="4267200" y="6428601"/>
            <a:ext cx="38010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“Turning remote access into a fortress — not a doorway.”</a:t>
            </a:r>
            <a:endParaRPr lang="en-IN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592" y="1311592"/>
            <a:ext cx="3880485" cy="4799330"/>
          </a:xfrm>
          <a:custGeom>
            <a:avLst/>
            <a:gdLst/>
            <a:ahLst/>
            <a:cxnLst/>
            <a:rect l="l" t="t" r="r" b="b"/>
            <a:pathLst>
              <a:path w="3880485" h="4799330">
                <a:moveTo>
                  <a:pt x="3880485" y="4799330"/>
                </a:moveTo>
                <a:lnTo>
                  <a:pt x="0" y="4799330"/>
                </a:lnTo>
                <a:lnTo>
                  <a:pt x="0" y="0"/>
                </a:lnTo>
                <a:lnTo>
                  <a:pt x="3880485" y="0"/>
                </a:lnTo>
                <a:lnTo>
                  <a:pt x="388048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770755"/>
                </a:lnTo>
                <a:lnTo>
                  <a:pt x="14287" y="4770755"/>
                </a:lnTo>
                <a:lnTo>
                  <a:pt x="28575" y="4785042"/>
                </a:lnTo>
                <a:lnTo>
                  <a:pt x="3880485" y="4785042"/>
                </a:lnTo>
                <a:lnTo>
                  <a:pt x="3880485" y="4799330"/>
                </a:lnTo>
                <a:close/>
              </a:path>
              <a:path w="3880485" h="479933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3880485" h="4799330">
                <a:moveTo>
                  <a:pt x="385191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3851910" y="14287"/>
                </a:lnTo>
                <a:lnTo>
                  <a:pt x="3851910" y="28575"/>
                </a:lnTo>
                <a:close/>
              </a:path>
              <a:path w="3880485" h="4799330">
                <a:moveTo>
                  <a:pt x="3851910" y="4785042"/>
                </a:moveTo>
                <a:lnTo>
                  <a:pt x="3851910" y="14287"/>
                </a:lnTo>
                <a:lnTo>
                  <a:pt x="3866197" y="28575"/>
                </a:lnTo>
                <a:lnTo>
                  <a:pt x="3880485" y="28575"/>
                </a:lnTo>
                <a:lnTo>
                  <a:pt x="3880485" y="4770755"/>
                </a:lnTo>
                <a:lnTo>
                  <a:pt x="3866197" y="4770755"/>
                </a:lnTo>
                <a:lnTo>
                  <a:pt x="3851910" y="4785042"/>
                </a:lnTo>
                <a:close/>
              </a:path>
              <a:path w="3880485" h="4799330">
                <a:moveTo>
                  <a:pt x="3880485" y="28575"/>
                </a:moveTo>
                <a:lnTo>
                  <a:pt x="3866197" y="28575"/>
                </a:lnTo>
                <a:lnTo>
                  <a:pt x="3851910" y="14287"/>
                </a:lnTo>
                <a:lnTo>
                  <a:pt x="3880485" y="14287"/>
                </a:lnTo>
                <a:lnTo>
                  <a:pt x="3880485" y="28575"/>
                </a:lnTo>
                <a:close/>
              </a:path>
              <a:path w="3880485" h="4799330">
                <a:moveTo>
                  <a:pt x="28575" y="4785042"/>
                </a:moveTo>
                <a:lnTo>
                  <a:pt x="14287" y="4770755"/>
                </a:lnTo>
                <a:lnTo>
                  <a:pt x="28575" y="4770755"/>
                </a:lnTo>
                <a:lnTo>
                  <a:pt x="28575" y="4785042"/>
                </a:lnTo>
                <a:close/>
              </a:path>
              <a:path w="3880485" h="4799330">
                <a:moveTo>
                  <a:pt x="3851910" y="4785042"/>
                </a:moveTo>
                <a:lnTo>
                  <a:pt x="28575" y="4785042"/>
                </a:lnTo>
                <a:lnTo>
                  <a:pt x="28575" y="4770755"/>
                </a:lnTo>
                <a:lnTo>
                  <a:pt x="3851910" y="4770755"/>
                </a:lnTo>
                <a:lnTo>
                  <a:pt x="3851910" y="4785042"/>
                </a:lnTo>
                <a:close/>
              </a:path>
              <a:path w="3880485" h="4799330">
                <a:moveTo>
                  <a:pt x="3880485" y="4785042"/>
                </a:moveTo>
                <a:lnTo>
                  <a:pt x="3851910" y="4785042"/>
                </a:lnTo>
                <a:lnTo>
                  <a:pt x="3866197" y="4770755"/>
                </a:lnTo>
                <a:lnTo>
                  <a:pt x="3880485" y="4770755"/>
                </a:lnTo>
                <a:lnTo>
                  <a:pt x="3880485" y="478504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319" y="185496"/>
            <a:ext cx="2234285" cy="528320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4099877" y="1315402"/>
            <a:ext cx="4044315" cy="4795520"/>
          </a:xfrm>
          <a:custGeom>
            <a:avLst/>
            <a:gdLst/>
            <a:ahLst/>
            <a:cxnLst/>
            <a:rect l="l" t="t" r="r" b="b"/>
            <a:pathLst>
              <a:path w="4044315" h="4795520">
                <a:moveTo>
                  <a:pt x="4030027" y="4795520"/>
                </a:moveTo>
                <a:lnTo>
                  <a:pt x="14287" y="4795520"/>
                </a:lnTo>
                <a:lnTo>
                  <a:pt x="11493" y="4795240"/>
                </a:lnTo>
                <a:lnTo>
                  <a:pt x="0" y="4781232"/>
                </a:lnTo>
                <a:lnTo>
                  <a:pt x="0" y="14287"/>
                </a:lnTo>
                <a:lnTo>
                  <a:pt x="14287" y="0"/>
                </a:lnTo>
                <a:lnTo>
                  <a:pt x="4030027" y="0"/>
                </a:lnTo>
                <a:lnTo>
                  <a:pt x="4044315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766945"/>
                </a:lnTo>
                <a:lnTo>
                  <a:pt x="14287" y="4766945"/>
                </a:lnTo>
                <a:lnTo>
                  <a:pt x="28575" y="4781232"/>
                </a:lnTo>
                <a:lnTo>
                  <a:pt x="4044315" y="4781232"/>
                </a:lnTo>
                <a:lnTo>
                  <a:pt x="4044035" y="4784013"/>
                </a:lnTo>
                <a:lnTo>
                  <a:pt x="4032808" y="4795240"/>
                </a:lnTo>
                <a:lnTo>
                  <a:pt x="4030027" y="4795520"/>
                </a:lnTo>
                <a:close/>
              </a:path>
              <a:path w="4044315" h="479552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4044315" h="4795520">
                <a:moveTo>
                  <a:pt x="4015740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4015740" y="14287"/>
                </a:lnTo>
                <a:lnTo>
                  <a:pt x="4015740" y="28575"/>
                </a:lnTo>
                <a:close/>
              </a:path>
              <a:path w="4044315" h="4795520">
                <a:moveTo>
                  <a:pt x="4015740" y="4781232"/>
                </a:moveTo>
                <a:lnTo>
                  <a:pt x="4015740" y="14287"/>
                </a:lnTo>
                <a:lnTo>
                  <a:pt x="4030027" y="28575"/>
                </a:lnTo>
                <a:lnTo>
                  <a:pt x="4044315" y="28575"/>
                </a:lnTo>
                <a:lnTo>
                  <a:pt x="4044315" y="4766945"/>
                </a:lnTo>
                <a:lnTo>
                  <a:pt x="4030027" y="4766945"/>
                </a:lnTo>
                <a:lnTo>
                  <a:pt x="4015740" y="4781232"/>
                </a:lnTo>
                <a:close/>
              </a:path>
              <a:path w="4044315" h="4795520">
                <a:moveTo>
                  <a:pt x="4044315" y="28575"/>
                </a:moveTo>
                <a:lnTo>
                  <a:pt x="4030027" y="28575"/>
                </a:lnTo>
                <a:lnTo>
                  <a:pt x="4015740" y="14287"/>
                </a:lnTo>
                <a:lnTo>
                  <a:pt x="4044315" y="14287"/>
                </a:lnTo>
                <a:lnTo>
                  <a:pt x="4044315" y="28575"/>
                </a:lnTo>
                <a:close/>
              </a:path>
              <a:path w="4044315" h="4795520">
                <a:moveTo>
                  <a:pt x="28575" y="4781232"/>
                </a:moveTo>
                <a:lnTo>
                  <a:pt x="14287" y="4766945"/>
                </a:lnTo>
                <a:lnTo>
                  <a:pt x="28575" y="4766945"/>
                </a:lnTo>
                <a:lnTo>
                  <a:pt x="28575" y="4781232"/>
                </a:lnTo>
                <a:close/>
              </a:path>
              <a:path w="4044315" h="4795520">
                <a:moveTo>
                  <a:pt x="4015740" y="4781232"/>
                </a:moveTo>
                <a:lnTo>
                  <a:pt x="28575" y="4781232"/>
                </a:lnTo>
                <a:lnTo>
                  <a:pt x="28575" y="4766945"/>
                </a:lnTo>
                <a:lnTo>
                  <a:pt x="4015740" y="4766945"/>
                </a:lnTo>
                <a:lnTo>
                  <a:pt x="4015740" y="4781232"/>
                </a:lnTo>
                <a:close/>
              </a:path>
              <a:path w="4044315" h="4795520">
                <a:moveTo>
                  <a:pt x="4044315" y="4781232"/>
                </a:moveTo>
                <a:lnTo>
                  <a:pt x="4015740" y="4781232"/>
                </a:lnTo>
                <a:lnTo>
                  <a:pt x="4030027" y="4766945"/>
                </a:lnTo>
                <a:lnTo>
                  <a:pt x="4044315" y="4766945"/>
                </a:lnTo>
                <a:lnTo>
                  <a:pt x="4044315" y="4781232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8205787" y="1311592"/>
            <a:ext cx="3918585" cy="4798695"/>
          </a:xfrm>
          <a:custGeom>
            <a:avLst/>
            <a:gdLst/>
            <a:ahLst/>
            <a:cxnLst/>
            <a:rect l="l" t="t" r="r" b="b"/>
            <a:pathLst>
              <a:path w="3918584" h="4798695">
                <a:moveTo>
                  <a:pt x="3904297" y="4798695"/>
                </a:moveTo>
                <a:lnTo>
                  <a:pt x="14287" y="4798695"/>
                </a:lnTo>
                <a:lnTo>
                  <a:pt x="11506" y="4798415"/>
                </a:lnTo>
                <a:lnTo>
                  <a:pt x="0" y="4784407"/>
                </a:lnTo>
                <a:lnTo>
                  <a:pt x="0" y="14287"/>
                </a:lnTo>
                <a:lnTo>
                  <a:pt x="14287" y="0"/>
                </a:lnTo>
                <a:lnTo>
                  <a:pt x="3904297" y="0"/>
                </a:lnTo>
                <a:lnTo>
                  <a:pt x="3918584" y="14287"/>
                </a:lnTo>
                <a:lnTo>
                  <a:pt x="28575" y="14287"/>
                </a:lnTo>
                <a:lnTo>
                  <a:pt x="14287" y="28574"/>
                </a:lnTo>
                <a:lnTo>
                  <a:pt x="28575" y="28574"/>
                </a:lnTo>
                <a:lnTo>
                  <a:pt x="28575" y="4770120"/>
                </a:lnTo>
                <a:lnTo>
                  <a:pt x="14287" y="4770120"/>
                </a:lnTo>
                <a:lnTo>
                  <a:pt x="28575" y="4784407"/>
                </a:lnTo>
                <a:lnTo>
                  <a:pt x="3918584" y="4784407"/>
                </a:lnTo>
                <a:lnTo>
                  <a:pt x="3918305" y="4787188"/>
                </a:lnTo>
                <a:lnTo>
                  <a:pt x="3907078" y="4798415"/>
                </a:lnTo>
                <a:lnTo>
                  <a:pt x="3904297" y="4798695"/>
                </a:lnTo>
                <a:close/>
              </a:path>
              <a:path w="3918584" h="4798695">
                <a:moveTo>
                  <a:pt x="28575" y="28574"/>
                </a:moveTo>
                <a:lnTo>
                  <a:pt x="14287" y="28574"/>
                </a:lnTo>
                <a:lnTo>
                  <a:pt x="28575" y="14287"/>
                </a:lnTo>
                <a:lnTo>
                  <a:pt x="28575" y="28574"/>
                </a:lnTo>
                <a:close/>
              </a:path>
              <a:path w="3918584" h="4798695">
                <a:moveTo>
                  <a:pt x="3890009" y="28574"/>
                </a:moveTo>
                <a:lnTo>
                  <a:pt x="28575" y="28574"/>
                </a:lnTo>
                <a:lnTo>
                  <a:pt x="28575" y="14287"/>
                </a:lnTo>
                <a:lnTo>
                  <a:pt x="3890009" y="14287"/>
                </a:lnTo>
                <a:lnTo>
                  <a:pt x="3890009" y="28574"/>
                </a:lnTo>
                <a:close/>
              </a:path>
              <a:path w="3918584" h="4798695">
                <a:moveTo>
                  <a:pt x="3890009" y="4784407"/>
                </a:moveTo>
                <a:lnTo>
                  <a:pt x="3890009" y="14287"/>
                </a:lnTo>
                <a:lnTo>
                  <a:pt x="3904297" y="28574"/>
                </a:lnTo>
                <a:lnTo>
                  <a:pt x="3918584" y="28574"/>
                </a:lnTo>
                <a:lnTo>
                  <a:pt x="3918584" y="4770120"/>
                </a:lnTo>
                <a:lnTo>
                  <a:pt x="3904297" y="4770120"/>
                </a:lnTo>
                <a:lnTo>
                  <a:pt x="3890009" y="4784407"/>
                </a:lnTo>
                <a:close/>
              </a:path>
              <a:path w="3918584" h="4798695">
                <a:moveTo>
                  <a:pt x="3918584" y="28574"/>
                </a:moveTo>
                <a:lnTo>
                  <a:pt x="3904297" y="28574"/>
                </a:lnTo>
                <a:lnTo>
                  <a:pt x="3890009" y="14287"/>
                </a:lnTo>
                <a:lnTo>
                  <a:pt x="3918584" y="14287"/>
                </a:lnTo>
                <a:lnTo>
                  <a:pt x="3918584" y="28574"/>
                </a:lnTo>
                <a:close/>
              </a:path>
              <a:path w="3918584" h="4798695">
                <a:moveTo>
                  <a:pt x="28575" y="4784407"/>
                </a:moveTo>
                <a:lnTo>
                  <a:pt x="14287" y="4770120"/>
                </a:lnTo>
                <a:lnTo>
                  <a:pt x="28575" y="4770120"/>
                </a:lnTo>
                <a:lnTo>
                  <a:pt x="28575" y="4784407"/>
                </a:lnTo>
                <a:close/>
              </a:path>
              <a:path w="3918584" h="4798695">
                <a:moveTo>
                  <a:pt x="3890009" y="4784407"/>
                </a:moveTo>
                <a:lnTo>
                  <a:pt x="28575" y="4784407"/>
                </a:lnTo>
                <a:lnTo>
                  <a:pt x="28575" y="4770120"/>
                </a:lnTo>
                <a:lnTo>
                  <a:pt x="3890009" y="4770120"/>
                </a:lnTo>
                <a:lnTo>
                  <a:pt x="3890009" y="4784407"/>
                </a:lnTo>
                <a:close/>
              </a:path>
              <a:path w="3918584" h="4798695">
                <a:moveTo>
                  <a:pt x="3918584" y="4784407"/>
                </a:moveTo>
                <a:lnTo>
                  <a:pt x="3890009" y="4784407"/>
                </a:lnTo>
                <a:lnTo>
                  <a:pt x="3904297" y="4770120"/>
                </a:lnTo>
                <a:lnTo>
                  <a:pt x="3918584" y="4770120"/>
                </a:lnTo>
                <a:lnTo>
                  <a:pt x="3918584" y="478440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Title 55"/>
          <p:cNvSpPr>
            <a:spLocks noGrp="1"/>
          </p:cNvSpPr>
          <p:nvPr>
            <p:ph type="title"/>
          </p:nvPr>
        </p:nvSpPr>
        <p:spPr>
          <a:xfrm>
            <a:off x="-228600" y="271244"/>
            <a:ext cx="3124199" cy="592470"/>
          </a:xfrm>
        </p:spPr>
        <p:txBody>
          <a:bodyPr/>
          <a:lstStyle/>
          <a:p>
            <a:pPr algn="ctr"/>
            <a:r>
              <a:rPr lang="en-IN" sz="2000" dirty="0"/>
              <a:t>RISU NEXORA</a:t>
            </a:r>
            <a:br>
              <a:rPr lang="en-IN" sz="2000" dirty="0"/>
            </a:br>
            <a:endParaRPr lang="en-US" dirty="0"/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81D60167-4931-47E6-BA6A-407CBD079E4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C8C1DD-12E9-AF61-997D-D29C6FF83B44}"/>
              </a:ext>
            </a:extLst>
          </p:cNvPr>
          <p:cNvSpPr txBox="1"/>
          <p:nvPr/>
        </p:nvSpPr>
        <p:spPr>
          <a:xfrm>
            <a:off x="4129090" y="1859339"/>
            <a:ext cx="208692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+mj-lt"/>
              </a:rPr>
              <a:t>Current </a:t>
            </a:r>
          </a:p>
          <a:p>
            <a:pPr algn="ctr"/>
            <a:r>
              <a:rPr lang="en-US" b="1" u="sng" dirty="0">
                <a:latin typeface="+mj-lt"/>
              </a:rPr>
              <a:t>workflow</a:t>
            </a:r>
          </a:p>
          <a:p>
            <a:pPr algn="ctr"/>
            <a:endParaRPr lang="en-US" dirty="0"/>
          </a:p>
          <a:p>
            <a:pPr algn="l"/>
            <a:r>
              <a:rPr lang="en-US" sz="1200" dirty="0"/>
              <a:t>Passenger</a:t>
            </a:r>
          </a:p>
          <a:p>
            <a:pPr algn="l"/>
            <a:r>
              <a:rPr lang="en-US" sz="1200" dirty="0"/>
              <a:t>   ↓</a:t>
            </a:r>
          </a:p>
          <a:p>
            <a:pPr algn="l"/>
            <a:r>
              <a:rPr lang="en-US" sz="1200" dirty="0"/>
              <a:t>Manual Document Inspection</a:t>
            </a:r>
          </a:p>
          <a:p>
            <a:pPr algn="l"/>
            <a:r>
              <a:rPr lang="en-US" sz="1200" dirty="0"/>
              <a:t>   ↓</a:t>
            </a:r>
          </a:p>
          <a:p>
            <a:pPr algn="l"/>
            <a:r>
              <a:rPr lang="en-US" sz="1200" dirty="0"/>
              <a:t>Read Information</a:t>
            </a:r>
          </a:p>
          <a:p>
            <a:pPr algn="l"/>
            <a:r>
              <a:rPr lang="en-US" sz="1200" dirty="0"/>
              <a:t>   ↓</a:t>
            </a:r>
          </a:p>
          <a:p>
            <a:pPr algn="l"/>
            <a:r>
              <a:rPr lang="en-US" sz="1200" dirty="0"/>
              <a:t>Basic Database Check</a:t>
            </a:r>
          </a:p>
          <a:p>
            <a:pPr algn="l"/>
            <a:r>
              <a:rPr lang="en-US" sz="1200" dirty="0"/>
              <a:t>   ↓</a:t>
            </a:r>
          </a:p>
          <a:p>
            <a:pPr algn="l"/>
            <a:r>
              <a:rPr lang="en-US" sz="1200" dirty="0"/>
              <a:t>Manual Face Comparison</a:t>
            </a:r>
          </a:p>
          <a:p>
            <a:pPr algn="l"/>
            <a:r>
              <a:rPr lang="en-US" sz="1200" dirty="0"/>
              <a:t>   ↓</a:t>
            </a:r>
          </a:p>
          <a:p>
            <a:pPr algn="l"/>
            <a:r>
              <a:rPr lang="en-US" sz="1200" dirty="0"/>
              <a:t>Officer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BA3879-FB1C-E96A-D7D3-4EC560A1DAA9}"/>
              </a:ext>
            </a:extLst>
          </p:cNvPr>
          <p:cNvSpPr txBox="1"/>
          <p:nvPr/>
        </p:nvSpPr>
        <p:spPr>
          <a:xfrm>
            <a:off x="8243887" y="1324292"/>
            <a:ext cx="4044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Innovation &amp; Uniqueness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58B1C81-3C26-9078-E146-5F2B798CE99F}"/>
              </a:ext>
            </a:extLst>
          </p:cNvPr>
          <p:cNvSpPr txBox="1"/>
          <p:nvPr/>
        </p:nvSpPr>
        <p:spPr>
          <a:xfrm>
            <a:off x="197805" y="1311592"/>
            <a:ext cx="3902072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Our Idea</a:t>
            </a:r>
          </a:p>
          <a:p>
            <a:pPr algn="ctr"/>
            <a:endParaRPr lang="en-US" sz="1800" b="1" dirty="0"/>
          </a:p>
          <a:p>
            <a:r>
              <a:rPr lang="en-US" b="1" u="sng" dirty="0">
                <a:latin typeface="Bell MT" pitchFamily="18" charset="0"/>
              </a:rPr>
              <a:t>VERIFEX AI</a:t>
            </a:r>
            <a:r>
              <a:rPr lang="en-US" b="1" dirty="0">
                <a:latin typeface="Bell MT" pitchFamily="18" charset="0"/>
              </a:rPr>
              <a:t>  </a:t>
            </a:r>
            <a:r>
              <a:rPr lang="en-US" dirty="0"/>
              <a:t>is an integrated screening platform that analyzes identity and travel documents using multiple verification layers:</a:t>
            </a:r>
          </a:p>
          <a:p>
            <a:endParaRPr lang="en-US" dirty="0"/>
          </a:p>
          <a:p>
            <a:r>
              <a:rPr lang="en-US" b="1" dirty="0">
                <a:latin typeface="+mn-lt"/>
              </a:rPr>
              <a:t>Extract → Validate → Forensically Analyze → Verify Identity → Assess Risk → Audit</a:t>
            </a:r>
          </a:p>
          <a:p>
            <a:endParaRPr lang="en-US" dirty="0"/>
          </a:p>
          <a:p>
            <a:pPr marL="285750" indent="-285750" algn="l">
              <a:buFont typeface="Wingdings" pitchFamily="2" charset="2"/>
              <a:buChar char="ü"/>
            </a:pPr>
            <a:r>
              <a:rPr lang="en-US" sz="2400" b="1" dirty="0">
                <a:latin typeface="+mn-lt"/>
              </a:rPr>
              <a:t>It combines:  </a:t>
            </a:r>
            <a:r>
              <a:rPr lang="en-US" dirty="0"/>
              <a:t>OCR + MRZ Validation + Document Rules + AI Image Forensics + Face Verification + Risk Assessment + TEE + </a:t>
            </a:r>
            <a:r>
              <a:rPr lang="en-US" dirty="0" err="1"/>
              <a:t>Blockchain</a:t>
            </a:r>
            <a:endParaRPr lang="en-US" sz="1800" dirty="0"/>
          </a:p>
          <a:p>
            <a:pPr algn="l"/>
            <a:endParaRPr lang="en-US" dirty="0"/>
          </a:p>
          <a:p>
            <a:pPr algn="l"/>
            <a:endParaRPr lang="en-US" sz="1800" dirty="0"/>
          </a:p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976BE2-E475-7AFF-32D6-7E65C5CA10CC}"/>
              </a:ext>
            </a:extLst>
          </p:cNvPr>
          <p:cNvSpPr txBox="1"/>
          <p:nvPr/>
        </p:nvSpPr>
        <p:spPr>
          <a:xfrm>
            <a:off x="4936332" y="359873"/>
            <a:ext cx="3161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u="sng" dirty="0">
                <a:latin typeface="Bell MT" pitchFamily="18" charset="0"/>
              </a:rPr>
              <a:t>VERIFEX AI</a:t>
            </a:r>
            <a:endParaRPr lang="en-I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B326C4-6654-FB1C-89C8-521D99798B22}"/>
              </a:ext>
            </a:extLst>
          </p:cNvPr>
          <p:cNvSpPr txBox="1"/>
          <p:nvPr/>
        </p:nvSpPr>
        <p:spPr>
          <a:xfrm>
            <a:off x="4267200" y="6428601"/>
            <a:ext cx="380104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“Zero Trust for Remote Access - Built in India, for India.”</a:t>
            </a:r>
            <a:endParaRPr lang="en-IN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B5241E-8A46-92DC-1499-B456216282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C6C8C1DD-12E9-AF61-997D-D29C6FF83B44}"/>
              </a:ext>
            </a:extLst>
          </p:cNvPr>
          <p:cNvSpPr txBox="1"/>
          <p:nvPr/>
        </p:nvSpPr>
        <p:spPr>
          <a:xfrm>
            <a:off x="6096000" y="1905000"/>
            <a:ext cx="2133600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latin typeface="+mj-lt"/>
              </a:rPr>
              <a:t>VERIFEX AI</a:t>
            </a:r>
          </a:p>
          <a:p>
            <a:pPr algn="ctr"/>
            <a:r>
              <a:rPr lang="en-US" b="1" u="sng" dirty="0">
                <a:latin typeface="+mj-lt"/>
              </a:rPr>
              <a:t>workflow</a:t>
            </a:r>
          </a:p>
          <a:p>
            <a:pPr algn="ctr"/>
            <a:endParaRPr lang="en-US" dirty="0"/>
          </a:p>
          <a:p>
            <a:pPr algn="l"/>
            <a:r>
              <a:rPr lang="en-US" sz="1050" dirty="0"/>
              <a:t>      Document + Person</a:t>
            </a:r>
          </a:p>
          <a:p>
            <a:pPr algn="l"/>
            <a:r>
              <a:rPr lang="en-US" sz="1050" dirty="0"/>
              <a:t>                     ↓</a:t>
            </a:r>
          </a:p>
          <a:p>
            <a:pPr algn="l"/>
            <a:r>
              <a:rPr lang="en-US" sz="1050" dirty="0"/>
              <a:t>             VERIFEX AI</a:t>
            </a:r>
          </a:p>
          <a:p>
            <a:pPr algn="l"/>
            <a:r>
              <a:rPr lang="en-US" sz="1050" dirty="0"/>
              <a:t>                     ↓</a:t>
            </a:r>
          </a:p>
          <a:p>
            <a:pPr algn="l"/>
            <a:r>
              <a:rPr lang="en-US" sz="1050" dirty="0"/>
              <a:t>     ┌─────┼──────┐</a:t>
            </a:r>
          </a:p>
          <a:p>
            <a:pPr algn="l"/>
            <a:r>
              <a:rPr lang="en-US" sz="1050" dirty="0"/>
              <a:t>     ↓              ↓                 ↓</a:t>
            </a:r>
          </a:p>
          <a:p>
            <a:pPr algn="l"/>
            <a:r>
              <a:rPr lang="en-US" sz="1050" dirty="0"/>
              <a:t>  OCR       Rules     AI Forensics</a:t>
            </a:r>
          </a:p>
          <a:p>
            <a:pPr algn="l"/>
            <a:r>
              <a:rPr lang="en-US" sz="1050" dirty="0"/>
              <a:t>     │              │                │</a:t>
            </a:r>
          </a:p>
          <a:p>
            <a:pPr algn="l"/>
            <a:r>
              <a:rPr lang="en-US" sz="1050" dirty="0"/>
              <a:t>     └─────┼──────┘</a:t>
            </a:r>
          </a:p>
          <a:p>
            <a:pPr algn="l"/>
            <a:r>
              <a:rPr lang="en-US" sz="1050" dirty="0"/>
              <a:t>                     ↓</a:t>
            </a:r>
          </a:p>
          <a:p>
            <a:pPr algn="l"/>
            <a:r>
              <a:rPr lang="en-US" sz="1050" dirty="0"/>
              <a:t>           Face Verification</a:t>
            </a:r>
          </a:p>
          <a:p>
            <a:pPr algn="l"/>
            <a:r>
              <a:rPr lang="en-US" sz="1050" dirty="0"/>
              <a:t>                     ↓</a:t>
            </a:r>
          </a:p>
          <a:p>
            <a:pPr algn="l"/>
            <a:r>
              <a:rPr lang="en-US" sz="1050" dirty="0"/>
              <a:t>           Risk Assessment</a:t>
            </a:r>
          </a:p>
          <a:p>
            <a:pPr algn="l"/>
            <a:r>
              <a:rPr lang="en-US" sz="1050" dirty="0"/>
              <a:t>                     ↓</a:t>
            </a:r>
          </a:p>
          <a:p>
            <a:pPr algn="l"/>
            <a:r>
              <a:rPr lang="en-US" sz="1050" dirty="0"/>
              <a:t>          Explainable Result</a:t>
            </a:r>
          </a:p>
          <a:p>
            <a:pPr algn="l"/>
            <a:r>
              <a:rPr lang="en-US" sz="1050" dirty="0"/>
              <a:t>                     ↓ </a:t>
            </a:r>
          </a:p>
          <a:p>
            <a:pPr algn="l"/>
            <a:r>
              <a:rPr lang="en-US" sz="1050" dirty="0"/>
              <a:t>            Officer Decision</a:t>
            </a:r>
          </a:p>
          <a:p>
            <a:pPr algn="l"/>
            <a:r>
              <a:rPr lang="en-US" sz="1050" dirty="0"/>
              <a:t>                     ↓ </a:t>
            </a:r>
          </a:p>
          <a:p>
            <a:pPr algn="l"/>
            <a:r>
              <a:rPr lang="en-US" sz="1050" dirty="0"/>
              <a:t>           Blockchain Audit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0" y="1371601"/>
            <a:ext cx="3886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800" b="1" dirty="0"/>
              <a:t>How It Addresses the Problem</a:t>
            </a:r>
          </a:p>
          <a:p>
            <a:pPr algn="ctr"/>
            <a:r>
              <a:rPr lang="en-US" sz="1800" b="1" dirty="0"/>
              <a:t> 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82000" y="1981201"/>
            <a:ext cx="3810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u="sng" dirty="0"/>
              <a:t>KEY INNOVATION</a:t>
            </a:r>
          </a:p>
          <a:p>
            <a:endParaRPr lang="en-US" sz="1200" b="1" u="sng" dirty="0"/>
          </a:p>
          <a:p>
            <a:r>
              <a:rPr lang="en-US" sz="1200" b="1" dirty="0"/>
              <a:t>① Cross-Document Intelligence</a:t>
            </a:r>
            <a:br>
              <a:rPr lang="en-US" sz="1200" dirty="0"/>
            </a:br>
            <a:r>
              <a:rPr lang="en-US" sz="1200" dirty="0"/>
              <a:t>Passport ↔ Visa ↔ Identity consistency</a:t>
            </a:r>
          </a:p>
          <a:p>
            <a:endParaRPr lang="en-US" sz="1200" dirty="0"/>
          </a:p>
          <a:p>
            <a:r>
              <a:rPr lang="en-US" sz="1200" b="1" dirty="0"/>
              <a:t>② Evidence-Based Forensics</a:t>
            </a:r>
            <a:br>
              <a:rPr lang="en-US" sz="1200" dirty="0"/>
            </a:br>
            <a:r>
              <a:rPr lang="en-US" sz="1200" dirty="0"/>
              <a:t>Detects suspicious photo/text/stamp manipulation and identifies supporting evidence</a:t>
            </a:r>
          </a:p>
          <a:p>
            <a:endParaRPr lang="en-US" sz="1200" dirty="0"/>
          </a:p>
          <a:p>
            <a:r>
              <a:rPr lang="en-US" sz="1200" b="1" dirty="0"/>
              <a:t>③ Privacy-Preserving AI</a:t>
            </a:r>
            <a:br>
              <a:rPr lang="en-US" sz="1200" dirty="0"/>
            </a:br>
            <a:r>
              <a:rPr lang="en-US" sz="1200" dirty="0"/>
              <a:t>TEE protects sensitive biometric and AI processing</a:t>
            </a:r>
          </a:p>
          <a:p>
            <a:endParaRPr lang="en-US" sz="1200" dirty="0"/>
          </a:p>
          <a:p>
            <a:r>
              <a:rPr lang="en-US" sz="1200" b="1" dirty="0"/>
              <a:t>④ Tamper-Evident Audit</a:t>
            </a:r>
            <a:br>
              <a:rPr lang="en-US" sz="1200" dirty="0"/>
            </a:br>
            <a:r>
              <a:rPr lang="en-US" sz="1200" dirty="0" err="1"/>
              <a:t>Blockchain</a:t>
            </a:r>
            <a:r>
              <a:rPr lang="en-US" sz="1200" dirty="0"/>
              <a:t> records verification hashes and audit events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05787" y="4804676"/>
            <a:ext cx="3918585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ü"/>
            </a:pPr>
            <a:r>
              <a:rPr lang="en-US" sz="1200" b="1" dirty="0">
                <a:latin typeface="+mn-lt"/>
              </a:rPr>
              <a:t>System can build a relationship graph between all available identity documents and the person</a:t>
            </a:r>
            <a:r>
              <a:rPr lang="en-US" sz="1200" dirty="0">
                <a:latin typeface="+mn-lt"/>
              </a:rPr>
              <a:t>.</a:t>
            </a:r>
          </a:p>
          <a:p>
            <a:endParaRPr lang="en-US" sz="1200" b="1" dirty="0">
              <a:latin typeface="+mn-lt"/>
            </a:endParaRPr>
          </a:p>
          <a:p>
            <a:r>
              <a:rPr lang="en-US" sz="1400" b="1" u="sng" dirty="0">
                <a:latin typeface="+mn-lt"/>
              </a:rPr>
              <a:t>Outcome</a:t>
            </a:r>
          </a:p>
          <a:p>
            <a:r>
              <a:rPr lang="en-US" sz="1400" b="1" dirty="0">
                <a:latin typeface="+mn-lt"/>
              </a:rPr>
              <a:t>Faster Screening + Explainable Verification + Stronger Fraud Detection + Secure Audit Trail</a:t>
            </a:r>
            <a:endParaRPr lang="en-US" sz="1400" dirty="0">
              <a:latin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828800" y="1143000"/>
            <a:ext cx="4267200" cy="5181600"/>
          </a:xfrm>
          <a:custGeom>
            <a:avLst/>
            <a:gdLst/>
            <a:ahLst/>
            <a:cxnLst/>
            <a:rect l="l" t="t" r="r" b="b"/>
            <a:pathLst>
              <a:path w="5941060" h="3547110">
                <a:moveTo>
                  <a:pt x="5941060" y="3547110"/>
                </a:moveTo>
                <a:lnTo>
                  <a:pt x="0" y="3547110"/>
                </a:lnTo>
                <a:lnTo>
                  <a:pt x="0" y="0"/>
                </a:lnTo>
                <a:lnTo>
                  <a:pt x="5941060" y="0"/>
                </a:lnTo>
                <a:lnTo>
                  <a:pt x="594106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518535"/>
                </a:lnTo>
                <a:lnTo>
                  <a:pt x="14287" y="3518535"/>
                </a:lnTo>
                <a:lnTo>
                  <a:pt x="28575" y="3532822"/>
                </a:lnTo>
                <a:lnTo>
                  <a:pt x="5941060" y="3532822"/>
                </a:lnTo>
                <a:lnTo>
                  <a:pt x="5941060" y="3547110"/>
                </a:lnTo>
                <a:close/>
              </a:path>
              <a:path w="5941060" h="354711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941060" h="3547110">
                <a:moveTo>
                  <a:pt x="591248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912485" y="14287"/>
                </a:lnTo>
                <a:lnTo>
                  <a:pt x="5912485" y="28575"/>
                </a:lnTo>
                <a:close/>
              </a:path>
              <a:path w="5941060" h="3547110">
                <a:moveTo>
                  <a:pt x="5912485" y="3532822"/>
                </a:moveTo>
                <a:lnTo>
                  <a:pt x="5912485" y="14287"/>
                </a:lnTo>
                <a:lnTo>
                  <a:pt x="5926772" y="28575"/>
                </a:lnTo>
                <a:lnTo>
                  <a:pt x="5941060" y="28575"/>
                </a:lnTo>
                <a:lnTo>
                  <a:pt x="5941060" y="3518535"/>
                </a:lnTo>
                <a:lnTo>
                  <a:pt x="5926772" y="3518535"/>
                </a:lnTo>
                <a:lnTo>
                  <a:pt x="5912485" y="3532822"/>
                </a:lnTo>
                <a:close/>
              </a:path>
              <a:path w="5941060" h="3547110">
                <a:moveTo>
                  <a:pt x="5941060" y="28575"/>
                </a:moveTo>
                <a:lnTo>
                  <a:pt x="5926772" y="28575"/>
                </a:lnTo>
                <a:lnTo>
                  <a:pt x="5912485" y="14287"/>
                </a:lnTo>
                <a:lnTo>
                  <a:pt x="5941060" y="14287"/>
                </a:lnTo>
                <a:lnTo>
                  <a:pt x="5941060" y="28575"/>
                </a:lnTo>
                <a:close/>
              </a:path>
              <a:path w="5941060" h="3547110">
                <a:moveTo>
                  <a:pt x="28575" y="3532822"/>
                </a:moveTo>
                <a:lnTo>
                  <a:pt x="14287" y="3518535"/>
                </a:lnTo>
                <a:lnTo>
                  <a:pt x="28575" y="3518535"/>
                </a:lnTo>
                <a:lnTo>
                  <a:pt x="28575" y="3532822"/>
                </a:lnTo>
                <a:close/>
              </a:path>
              <a:path w="5941060" h="3547110">
                <a:moveTo>
                  <a:pt x="5912485" y="3532822"/>
                </a:moveTo>
                <a:lnTo>
                  <a:pt x="28575" y="3532822"/>
                </a:lnTo>
                <a:lnTo>
                  <a:pt x="28575" y="3518535"/>
                </a:lnTo>
                <a:lnTo>
                  <a:pt x="5912485" y="3518535"/>
                </a:lnTo>
                <a:lnTo>
                  <a:pt x="5912485" y="3532822"/>
                </a:lnTo>
                <a:close/>
              </a:path>
              <a:path w="5941060" h="3547110">
                <a:moveTo>
                  <a:pt x="5941060" y="3532822"/>
                </a:moveTo>
                <a:lnTo>
                  <a:pt x="5912485" y="3532822"/>
                </a:lnTo>
                <a:lnTo>
                  <a:pt x="5926772" y="3518535"/>
                </a:lnTo>
                <a:lnTo>
                  <a:pt x="5941060" y="3518535"/>
                </a:lnTo>
                <a:lnTo>
                  <a:pt x="5941060" y="353282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19" y="185496"/>
            <a:ext cx="2234285" cy="52832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6172199" y="1128712"/>
            <a:ext cx="5882957" cy="5195888"/>
          </a:xfrm>
          <a:custGeom>
            <a:avLst/>
            <a:gdLst/>
            <a:ahLst/>
            <a:cxnLst/>
            <a:rect l="l" t="t" r="r" b="b"/>
            <a:pathLst>
              <a:path w="5888990" h="3544570">
                <a:moveTo>
                  <a:pt x="5874702" y="3544570"/>
                </a:moveTo>
                <a:lnTo>
                  <a:pt x="14287" y="3544570"/>
                </a:lnTo>
                <a:lnTo>
                  <a:pt x="11506" y="3544290"/>
                </a:lnTo>
                <a:lnTo>
                  <a:pt x="0" y="3530282"/>
                </a:lnTo>
                <a:lnTo>
                  <a:pt x="0" y="14287"/>
                </a:lnTo>
                <a:lnTo>
                  <a:pt x="14287" y="0"/>
                </a:lnTo>
                <a:lnTo>
                  <a:pt x="5874702" y="0"/>
                </a:lnTo>
                <a:lnTo>
                  <a:pt x="588899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515995"/>
                </a:lnTo>
                <a:lnTo>
                  <a:pt x="14287" y="3515995"/>
                </a:lnTo>
                <a:lnTo>
                  <a:pt x="28575" y="3530282"/>
                </a:lnTo>
                <a:lnTo>
                  <a:pt x="5888990" y="3530282"/>
                </a:lnTo>
                <a:lnTo>
                  <a:pt x="5888710" y="3533063"/>
                </a:lnTo>
                <a:lnTo>
                  <a:pt x="5877483" y="3544290"/>
                </a:lnTo>
                <a:lnTo>
                  <a:pt x="5874702" y="3544570"/>
                </a:lnTo>
                <a:close/>
              </a:path>
              <a:path w="5888990" h="354457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888990" h="3544570">
                <a:moveTo>
                  <a:pt x="586041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860415" y="14287"/>
                </a:lnTo>
                <a:lnTo>
                  <a:pt x="5860415" y="28575"/>
                </a:lnTo>
                <a:close/>
              </a:path>
              <a:path w="5888990" h="3544570">
                <a:moveTo>
                  <a:pt x="5860415" y="3530282"/>
                </a:moveTo>
                <a:lnTo>
                  <a:pt x="5860415" y="14287"/>
                </a:lnTo>
                <a:lnTo>
                  <a:pt x="5874702" y="28575"/>
                </a:lnTo>
                <a:lnTo>
                  <a:pt x="5888990" y="28575"/>
                </a:lnTo>
                <a:lnTo>
                  <a:pt x="5888990" y="3515995"/>
                </a:lnTo>
                <a:lnTo>
                  <a:pt x="5874702" y="3515995"/>
                </a:lnTo>
                <a:lnTo>
                  <a:pt x="5860415" y="3530282"/>
                </a:lnTo>
                <a:close/>
              </a:path>
              <a:path w="5888990" h="3544570">
                <a:moveTo>
                  <a:pt x="5888990" y="28575"/>
                </a:moveTo>
                <a:lnTo>
                  <a:pt x="5874702" y="28575"/>
                </a:lnTo>
                <a:lnTo>
                  <a:pt x="5860415" y="14287"/>
                </a:lnTo>
                <a:lnTo>
                  <a:pt x="5888990" y="14287"/>
                </a:lnTo>
                <a:lnTo>
                  <a:pt x="5888990" y="28575"/>
                </a:lnTo>
                <a:close/>
              </a:path>
              <a:path w="5888990" h="3544570">
                <a:moveTo>
                  <a:pt x="28575" y="3530282"/>
                </a:moveTo>
                <a:lnTo>
                  <a:pt x="14287" y="3515995"/>
                </a:lnTo>
                <a:lnTo>
                  <a:pt x="28575" y="3515995"/>
                </a:lnTo>
                <a:lnTo>
                  <a:pt x="28575" y="3530282"/>
                </a:lnTo>
                <a:close/>
              </a:path>
              <a:path w="5888990" h="3544570">
                <a:moveTo>
                  <a:pt x="5860415" y="3530282"/>
                </a:moveTo>
                <a:lnTo>
                  <a:pt x="28575" y="3530282"/>
                </a:lnTo>
                <a:lnTo>
                  <a:pt x="28575" y="3515995"/>
                </a:lnTo>
                <a:lnTo>
                  <a:pt x="5860415" y="3515995"/>
                </a:lnTo>
                <a:lnTo>
                  <a:pt x="5860415" y="3530282"/>
                </a:lnTo>
                <a:close/>
              </a:path>
              <a:path w="5888990" h="3544570">
                <a:moveTo>
                  <a:pt x="5888990" y="3530282"/>
                </a:moveTo>
                <a:lnTo>
                  <a:pt x="5860415" y="3530282"/>
                </a:lnTo>
                <a:lnTo>
                  <a:pt x="5874702" y="3515995"/>
                </a:lnTo>
                <a:lnTo>
                  <a:pt x="5888990" y="3515995"/>
                </a:lnTo>
                <a:lnTo>
                  <a:pt x="5888990" y="353028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3</a:t>
            </a:fld>
            <a:endParaRPr spc="-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27EB09-5AEC-1B85-9B13-520DFA800DFC}"/>
              </a:ext>
            </a:extLst>
          </p:cNvPr>
          <p:cNvSpPr txBox="1"/>
          <p:nvPr/>
        </p:nvSpPr>
        <p:spPr>
          <a:xfrm>
            <a:off x="250507" y="1142999"/>
            <a:ext cx="2154097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50" b="1" dirty="0"/>
              <a:t>  </a:t>
            </a:r>
            <a:r>
              <a:rPr lang="en-US" sz="1050" b="1" u="sng" dirty="0"/>
              <a:t>Technology Stack</a:t>
            </a:r>
          </a:p>
          <a:p>
            <a:pPr algn="l"/>
            <a:endParaRPr lang="en-US" sz="1050" dirty="0"/>
          </a:p>
          <a:p>
            <a:pPr algn="l"/>
            <a:r>
              <a:rPr lang="en-US" sz="1050" b="1" dirty="0"/>
              <a:t>Frontend</a:t>
            </a:r>
          </a:p>
          <a:p>
            <a:pPr algn="l"/>
            <a:r>
              <a:rPr lang="en-US" sz="1050" dirty="0"/>
              <a:t>→ React</a:t>
            </a:r>
          </a:p>
          <a:p>
            <a:pPr algn="l"/>
            <a:endParaRPr lang="en-US" sz="1050" dirty="0"/>
          </a:p>
          <a:p>
            <a:pPr algn="l"/>
            <a:r>
              <a:rPr lang="en-US" sz="1050" b="1" dirty="0"/>
              <a:t>Backend</a:t>
            </a:r>
          </a:p>
          <a:p>
            <a:pPr algn="l"/>
            <a:r>
              <a:rPr lang="en-US" sz="1050" dirty="0"/>
              <a:t>→ Python + </a:t>
            </a:r>
            <a:r>
              <a:rPr lang="en-US" sz="1050" dirty="0" err="1"/>
              <a:t>FastAPI</a:t>
            </a:r>
            <a:endParaRPr lang="en-US" sz="1050" dirty="0"/>
          </a:p>
          <a:p>
            <a:pPr algn="l"/>
            <a:endParaRPr lang="en-US" sz="1050" dirty="0"/>
          </a:p>
          <a:p>
            <a:pPr algn="l"/>
            <a:r>
              <a:rPr lang="en-US" sz="1050" b="1" dirty="0"/>
              <a:t>OCR</a:t>
            </a:r>
          </a:p>
          <a:p>
            <a:pPr algn="l"/>
            <a:r>
              <a:rPr lang="en-US" sz="1050" dirty="0"/>
              <a:t>→ Paddle OCR / </a:t>
            </a:r>
          </a:p>
          <a:p>
            <a:pPr algn="l"/>
            <a:r>
              <a:rPr lang="en-US" sz="1050" dirty="0"/>
              <a:t>    Tesseract</a:t>
            </a:r>
          </a:p>
          <a:p>
            <a:pPr algn="l"/>
            <a:endParaRPr lang="en-US" sz="1050" dirty="0"/>
          </a:p>
          <a:p>
            <a:pPr algn="l"/>
            <a:r>
              <a:rPr lang="en-US" sz="1050" b="1" dirty="0"/>
              <a:t>Computer Vision</a:t>
            </a:r>
          </a:p>
          <a:p>
            <a:pPr algn="l"/>
            <a:r>
              <a:rPr lang="en-US" sz="1050" dirty="0"/>
              <a:t>→ </a:t>
            </a:r>
            <a:r>
              <a:rPr lang="en-US" sz="1050" dirty="0" err="1"/>
              <a:t>OpenCV</a:t>
            </a:r>
            <a:r>
              <a:rPr lang="en-US" sz="1050" dirty="0"/>
              <a:t> + </a:t>
            </a:r>
            <a:r>
              <a:rPr lang="en-US" sz="1050" dirty="0" err="1"/>
              <a:t>PyTorch</a:t>
            </a:r>
            <a:endParaRPr lang="en-US" sz="1050" dirty="0"/>
          </a:p>
          <a:p>
            <a:pPr algn="l"/>
            <a:endParaRPr lang="en-US" sz="1050" dirty="0"/>
          </a:p>
          <a:p>
            <a:pPr algn="l"/>
            <a:r>
              <a:rPr lang="en-US" sz="1050" b="1" dirty="0"/>
              <a:t>Face Verification</a:t>
            </a:r>
          </a:p>
          <a:p>
            <a:pPr algn="l"/>
            <a:r>
              <a:rPr lang="en-US" sz="1050" dirty="0"/>
              <a:t>→ Face Embedding </a:t>
            </a:r>
          </a:p>
          <a:p>
            <a:pPr algn="l"/>
            <a:r>
              <a:rPr lang="en-US" sz="1050" dirty="0"/>
              <a:t>     Model</a:t>
            </a:r>
          </a:p>
          <a:p>
            <a:pPr algn="l"/>
            <a:endParaRPr lang="en-US" sz="1050" dirty="0"/>
          </a:p>
          <a:p>
            <a:pPr algn="l"/>
            <a:r>
              <a:rPr lang="en-US" sz="1050" b="1" dirty="0"/>
              <a:t>Database</a:t>
            </a:r>
          </a:p>
          <a:p>
            <a:pPr algn="l"/>
            <a:r>
              <a:rPr lang="en-US" sz="1050" dirty="0"/>
              <a:t>→ </a:t>
            </a:r>
            <a:r>
              <a:rPr lang="en-US" sz="1050" dirty="0" err="1"/>
              <a:t>PostgreSQL</a:t>
            </a:r>
            <a:endParaRPr lang="en-US" sz="1050" dirty="0"/>
          </a:p>
          <a:p>
            <a:pPr algn="l"/>
            <a:endParaRPr lang="en-US" sz="1050" dirty="0"/>
          </a:p>
          <a:p>
            <a:pPr algn="l"/>
            <a:r>
              <a:rPr lang="en-US" sz="1050" b="1" dirty="0" err="1"/>
              <a:t>Blockchain</a:t>
            </a:r>
            <a:endParaRPr lang="en-US" sz="1050" b="1" dirty="0"/>
          </a:p>
          <a:p>
            <a:pPr algn="l"/>
            <a:r>
              <a:rPr lang="en-US" sz="1050" dirty="0"/>
              <a:t>→ Permissioned </a:t>
            </a:r>
          </a:p>
          <a:p>
            <a:pPr algn="l"/>
            <a:r>
              <a:rPr lang="en-US" sz="1050" dirty="0"/>
              <a:t>     Blockchain</a:t>
            </a:r>
          </a:p>
          <a:p>
            <a:pPr algn="l"/>
            <a:endParaRPr lang="en-US" sz="1050" dirty="0"/>
          </a:p>
          <a:p>
            <a:pPr algn="l"/>
            <a:r>
              <a:rPr lang="en-US" sz="1050" b="1" dirty="0"/>
              <a:t>Trusted Computing</a:t>
            </a:r>
          </a:p>
          <a:p>
            <a:pPr algn="l"/>
            <a:r>
              <a:rPr lang="en-US" sz="1050" dirty="0"/>
              <a:t>→ TEE</a:t>
            </a:r>
          </a:p>
          <a:p>
            <a:pPr algn="l"/>
            <a:endParaRPr lang="en-US" sz="1050" dirty="0"/>
          </a:p>
          <a:p>
            <a:pPr algn="l"/>
            <a:r>
              <a:rPr lang="en-US" sz="1050" b="1" dirty="0"/>
              <a:t>Deployment</a:t>
            </a:r>
          </a:p>
          <a:p>
            <a:pPr algn="l"/>
            <a:r>
              <a:rPr lang="en-US" sz="1050" dirty="0"/>
              <a:t>→ </a:t>
            </a:r>
            <a:r>
              <a:rPr lang="en-US" sz="1050" dirty="0" err="1"/>
              <a:t>Docker</a:t>
            </a:r>
            <a:endParaRPr lang="en-US" sz="10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1BB8AB-7912-9B0B-ACDC-2D5FB9B498B9}"/>
              </a:ext>
            </a:extLst>
          </p:cNvPr>
          <p:cNvSpPr txBox="1"/>
          <p:nvPr/>
        </p:nvSpPr>
        <p:spPr>
          <a:xfrm>
            <a:off x="6194741" y="1104066"/>
            <a:ext cx="5768659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b="1" dirty="0"/>
              <a:t>Methodology &amp; Process</a:t>
            </a:r>
          </a:p>
          <a:p>
            <a:pPr algn="ctr"/>
            <a:endParaRPr lang="en-US" sz="1500" b="1" dirty="0"/>
          </a:p>
          <a:p>
            <a:pPr algn="l">
              <a:buFont typeface="Wingdings" pitchFamily="2" charset="2"/>
              <a:buChar char="ü"/>
            </a:pPr>
            <a:r>
              <a:rPr lang="en-US" sz="1500" b="1" dirty="0">
                <a:latin typeface="+mn-lt"/>
              </a:rPr>
              <a:t>Document Capture</a:t>
            </a:r>
            <a:r>
              <a:rPr lang="en-US" sz="1500" dirty="0">
                <a:latin typeface="+mn-lt"/>
              </a:rPr>
              <a:t> – Capture passport, visa, ID, permit and live face image. </a:t>
            </a:r>
          </a:p>
          <a:p>
            <a:pPr algn="l">
              <a:buFont typeface="Wingdings" pitchFamily="2" charset="2"/>
              <a:buChar char="ü"/>
            </a:pPr>
            <a:r>
              <a:rPr lang="en-US" sz="1500" b="1" dirty="0">
                <a:latin typeface="+mn-lt"/>
              </a:rPr>
              <a:t>OCR &amp; MRZ Extraction</a:t>
            </a:r>
            <a:r>
              <a:rPr lang="en-US" sz="1500" dirty="0">
                <a:latin typeface="+mn-lt"/>
              </a:rPr>
              <a:t> – Extract and read identity details using OCR and MRZ.</a:t>
            </a:r>
          </a:p>
          <a:p>
            <a:pPr algn="l">
              <a:buFont typeface="Wingdings" pitchFamily="2" charset="2"/>
              <a:buChar char="ü"/>
            </a:pPr>
            <a:r>
              <a:rPr lang="en-US" sz="1500" dirty="0">
                <a:latin typeface="+mn-lt"/>
              </a:rPr>
              <a:t> </a:t>
            </a:r>
            <a:r>
              <a:rPr lang="en-US" sz="1500" b="1" dirty="0">
                <a:latin typeface="+mn-lt"/>
              </a:rPr>
              <a:t>Document Validation</a:t>
            </a:r>
            <a:r>
              <a:rPr lang="en-US" sz="1500" dirty="0">
                <a:latin typeface="+mn-lt"/>
              </a:rPr>
              <a:t> – Check format, expiry, fields and document authenticity. </a:t>
            </a:r>
          </a:p>
          <a:p>
            <a:pPr algn="l">
              <a:buFont typeface="Wingdings" pitchFamily="2" charset="2"/>
              <a:buChar char="ü"/>
            </a:pPr>
            <a:r>
              <a:rPr lang="en-US" sz="1500" b="1" dirty="0">
                <a:latin typeface="+mn-lt"/>
              </a:rPr>
              <a:t>AI Tampering Detection</a:t>
            </a:r>
            <a:r>
              <a:rPr lang="en-US" sz="1500" dirty="0">
                <a:latin typeface="+mn-lt"/>
              </a:rPr>
              <a:t> – Detect altered photos, text, stamps and image manipulation.</a:t>
            </a:r>
          </a:p>
          <a:p>
            <a:pPr algn="l">
              <a:buFont typeface="Wingdings" pitchFamily="2" charset="2"/>
              <a:buChar char="ü"/>
            </a:pPr>
            <a:r>
              <a:rPr lang="en-US" sz="1500" dirty="0">
                <a:latin typeface="+mn-lt"/>
              </a:rPr>
              <a:t> </a:t>
            </a:r>
            <a:r>
              <a:rPr lang="en-US" sz="1500" b="1" dirty="0">
                <a:latin typeface="+mn-lt"/>
              </a:rPr>
              <a:t>Face Verification</a:t>
            </a:r>
            <a:r>
              <a:rPr lang="en-US" sz="1500" dirty="0">
                <a:latin typeface="+mn-lt"/>
              </a:rPr>
              <a:t> – Compare the document photo with the live    person.</a:t>
            </a:r>
          </a:p>
          <a:p>
            <a:pPr algn="l">
              <a:buFont typeface="Wingdings" pitchFamily="2" charset="2"/>
              <a:buChar char="ü"/>
            </a:pPr>
            <a:r>
              <a:rPr lang="en-US" sz="1500" dirty="0">
                <a:latin typeface="+mn-lt"/>
              </a:rPr>
              <a:t> </a:t>
            </a:r>
            <a:r>
              <a:rPr lang="en-US" sz="1500" b="1" dirty="0">
                <a:latin typeface="+mn-lt"/>
              </a:rPr>
              <a:t>Identity Consistency Graph</a:t>
            </a:r>
            <a:r>
              <a:rPr lang="en-US" sz="1500" dirty="0">
                <a:latin typeface="+mn-lt"/>
              </a:rPr>
              <a:t> – Cross-check identity details across multiple documents. </a:t>
            </a:r>
          </a:p>
          <a:p>
            <a:pPr algn="l">
              <a:buFont typeface="Wingdings" pitchFamily="2" charset="2"/>
              <a:buChar char="ü"/>
            </a:pPr>
            <a:r>
              <a:rPr lang="en-US" sz="1500" b="1" dirty="0">
                <a:latin typeface="+mn-lt"/>
              </a:rPr>
              <a:t>Risk Assessment</a:t>
            </a:r>
            <a:r>
              <a:rPr lang="en-US" sz="1500" dirty="0">
                <a:latin typeface="+mn-lt"/>
              </a:rPr>
              <a:t> – Combine all verification results to generate an identity-risk level. </a:t>
            </a:r>
          </a:p>
          <a:p>
            <a:pPr algn="l">
              <a:buFont typeface="Wingdings" pitchFamily="2" charset="2"/>
              <a:buChar char="ü"/>
            </a:pPr>
            <a:r>
              <a:rPr lang="en-US" sz="1500" b="1" dirty="0">
                <a:latin typeface="+mn-lt"/>
              </a:rPr>
              <a:t>Officer Verification</a:t>
            </a:r>
            <a:r>
              <a:rPr lang="en-US" sz="1500" dirty="0">
                <a:latin typeface="+mn-lt"/>
              </a:rPr>
              <a:t> – Present explainable evidence for the officer's final decision. </a:t>
            </a:r>
          </a:p>
          <a:p>
            <a:pPr algn="l">
              <a:buFont typeface="Wingdings" pitchFamily="2" charset="2"/>
              <a:buChar char="ü"/>
            </a:pPr>
            <a:r>
              <a:rPr lang="en-US" sz="1500" b="1" dirty="0">
                <a:latin typeface="+mn-lt"/>
              </a:rPr>
              <a:t>TEE Security</a:t>
            </a:r>
            <a:r>
              <a:rPr lang="en-US" sz="1500" dirty="0">
                <a:latin typeface="+mn-lt"/>
              </a:rPr>
              <a:t> – Protect sensitive biometric and AI processing.</a:t>
            </a:r>
          </a:p>
          <a:p>
            <a:pPr algn="l">
              <a:buFont typeface="Wingdings" pitchFamily="2" charset="2"/>
              <a:buChar char="ü"/>
            </a:pPr>
            <a:r>
              <a:rPr lang="en-US" sz="1500" dirty="0">
                <a:latin typeface="+mn-lt"/>
              </a:rPr>
              <a:t> </a:t>
            </a:r>
            <a:r>
              <a:rPr lang="en-US" sz="1500" b="1" dirty="0">
                <a:latin typeface="+mn-lt"/>
              </a:rPr>
              <a:t>Blockchain Audit</a:t>
            </a:r>
            <a:r>
              <a:rPr lang="en-US" sz="1500" dirty="0">
                <a:latin typeface="+mn-lt"/>
              </a:rPr>
              <a:t> – Store verification hashes and audit records in a permissioned blockchain.</a:t>
            </a:r>
            <a:endParaRPr lang="en-US" sz="1500" b="1" dirty="0">
              <a:latin typeface="+mn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ED5262-C7A2-CC56-3A24-78BB7A0D817B}"/>
              </a:ext>
            </a:extLst>
          </p:cNvPr>
          <p:cNvSpPr txBox="1"/>
          <p:nvPr/>
        </p:nvSpPr>
        <p:spPr>
          <a:xfrm>
            <a:off x="4888209" y="264038"/>
            <a:ext cx="3161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u="sng" dirty="0">
                <a:latin typeface="Bell MT" pitchFamily="18" charset="0"/>
              </a:rPr>
              <a:t>VERIFEX AI</a:t>
            </a:r>
            <a:endParaRPr lang="en-I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FA6BFC-FB61-5ECC-D2D5-2E16D70919AA}"/>
              </a:ext>
            </a:extLst>
          </p:cNvPr>
          <p:cNvSpPr txBox="1"/>
          <p:nvPr/>
        </p:nvSpPr>
        <p:spPr>
          <a:xfrm>
            <a:off x="-228600" y="228600"/>
            <a:ext cx="2971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latin typeface="Cambria" pitchFamily="18" charset="0"/>
                <a:ea typeface="Cambria" pitchFamily="18" charset="0"/>
              </a:rPr>
              <a:t>RISU NEXORA</a:t>
            </a:r>
            <a:endParaRPr lang="en-IN" sz="2000" b="1" dirty="0">
              <a:latin typeface="Cambria" pitchFamily="18" charset="0"/>
              <a:ea typeface="Cambria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A02CEE2-1F04-2C5B-D367-6B23E4C1CE99}"/>
              </a:ext>
            </a:extLst>
          </p:cNvPr>
          <p:cNvSpPr txBox="1"/>
          <p:nvPr/>
        </p:nvSpPr>
        <p:spPr>
          <a:xfrm>
            <a:off x="3886200" y="6428601"/>
            <a:ext cx="44887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“Engineered for real-world resilience — designed to adapt, not fail.”</a:t>
            </a:r>
            <a:endParaRPr lang="en-IN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3E3DD10-8FB7-8DE1-5976-D1A864B93F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600" y="0"/>
            <a:ext cx="2249850" cy="1062337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43200" y="1219200"/>
            <a:ext cx="29161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Technologies to be Used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1524000"/>
            <a:ext cx="4419600" cy="49090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dirty="0"/>
              <a:t>AI &amp; Machine Learning</a:t>
            </a:r>
          </a:p>
          <a:p>
            <a:pPr>
              <a:buFont typeface="Wingdings" pitchFamily="2" charset="2"/>
              <a:buChar char="Ø"/>
            </a:pPr>
            <a:r>
              <a:rPr lang="en-US" sz="1100" b="1" dirty="0">
                <a:latin typeface="+mn-lt"/>
              </a:rPr>
              <a:t>Python</a:t>
            </a:r>
            <a:r>
              <a:rPr lang="en-US" sz="1100" dirty="0">
                <a:latin typeface="+mn-lt"/>
              </a:rPr>
              <a:t> </a:t>
            </a:r>
          </a:p>
          <a:p>
            <a:pPr>
              <a:buFont typeface="Wingdings" pitchFamily="2" charset="2"/>
              <a:buChar char="Ø"/>
            </a:pPr>
            <a:r>
              <a:rPr lang="en-US" sz="1100" b="1" dirty="0" err="1">
                <a:latin typeface="+mn-lt"/>
              </a:rPr>
              <a:t>PyTorch</a:t>
            </a:r>
            <a:r>
              <a:rPr lang="en-US" sz="1100" b="1" dirty="0">
                <a:latin typeface="+mn-lt"/>
              </a:rPr>
              <a:t> / </a:t>
            </a:r>
            <a:r>
              <a:rPr lang="en-US" sz="1100" b="1" dirty="0" err="1">
                <a:latin typeface="+mn-lt"/>
              </a:rPr>
              <a:t>TensorFlow</a:t>
            </a:r>
            <a:r>
              <a:rPr lang="en-US" sz="1100" dirty="0">
                <a:latin typeface="+mn-lt"/>
              </a:rPr>
              <a:t> – AI model development </a:t>
            </a:r>
          </a:p>
          <a:p>
            <a:pPr>
              <a:buFont typeface="Wingdings" pitchFamily="2" charset="2"/>
              <a:buChar char="Ø"/>
            </a:pPr>
            <a:r>
              <a:rPr lang="en-US" sz="1100" b="1" dirty="0">
                <a:latin typeface="+mn-lt"/>
              </a:rPr>
              <a:t>Computer Vision</a:t>
            </a:r>
            <a:r>
              <a:rPr lang="en-US" sz="1100" dirty="0">
                <a:latin typeface="+mn-lt"/>
              </a:rPr>
              <a:t> – document image analysis and tampering  detection </a:t>
            </a:r>
          </a:p>
          <a:p>
            <a:pPr>
              <a:buFont typeface="Wingdings" pitchFamily="2" charset="2"/>
              <a:buChar char="Ø"/>
            </a:pPr>
            <a:r>
              <a:rPr lang="en-US" sz="1100" b="1" dirty="0">
                <a:latin typeface="+mn-lt"/>
              </a:rPr>
              <a:t>Face Recognition / Face Embeddings</a:t>
            </a:r>
            <a:r>
              <a:rPr lang="en-US" sz="1100" dirty="0">
                <a:latin typeface="+mn-lt"/>
              </a:rPr>
              <a:t> – face verification </a:t>
            </a:r>
          </a:p>
          <a:p>
            <a:endParaRPr lang="en-US" sz="1100" dirty="0">
              <a:latin typeface="+mn-lt"/>
            </a:endParaRPr>
          </a:p>
          <a:p>
            <a:r>
              <a:rPr lang="en-US" sz="1200" b="1" dirty="0"/>
              <a:t>OCR &amp; Document Processing</a:t>
            </a:r>
          </a:p>
          <a:p>
            <a:pPr>
              <a:buFont typeface="Wingdings" pitchFamily="2" charset="2"/>
              <a:buChar char="Ø"/>
            </a:pPr>
            <a:r>
              <a:rPr lang="en-US" sz="1100" b="1" dirty="0" err="1">
                <a:latin typeface="+mn-lt"/>
              </a:rPr>
              <a:t>PaddleOCR</a:t>
            </a:r>
            <a:r>
              <a:rPr lang="en-US" sz="1100" b="1" dirty="0">
                <a:latin typeface="+mn-lt"/>
              </a:rPr>
              <a:t> / </a:t>
            </a:r>
            <a:r>
              <a:rPr lang="en-US" sz="1100" b="1" dirty="0" err="1">
                <a:latin typeface="+mn-lt"/>
              </a:rPr>
              <a:t>Tesseract</a:t>
            </a:r>
            <a:r>
              <a:rPr lang="en-US" sz="1100" dirty="0">
                <a:latin typeface="+mn-lt"/>
              </a:rPr>
              <a:t> – text extraction </a:t>
            </a:r>
          </a:p>
          <a:p>
            <a:pPr>
              <a:buFont typeface="Wingdings" pitchFamily="2" charset="2"/>
              <a:buChar char="Ø"/>
            </a:pPr>
            <a:r>
              <a:rPr lang="en-US" sz="1100" b="1" dirty="0" err="1">
                <a:latin typeface="+mn-lt"/>
              </a:rPr>
              <a:t>OpenCV</a:t>
            </a:r>
            <a:r>
              <a:rPr lang="en-US" sz="1100" dirty="0">
                <a:latin typeface="+mn-lt"/>
              </a:rPr>
              <a:t> – image preprocessing, document alignment and image forensics </a:t>
            </a:r>
          </a:p>
          <a:p>
            <a:pPr>
              <a:buFont typeface="Wingdings" pitchFamily="2" charset="2"/>
              <a:buChar char="Ø"/>
            </a:pPr>
            <a:r>
              <a:rPr lang="en-US" sz="1100" b="1" dirty="0">
                <a:latin typeface="+mn-lt"/>
              </a:rPr>
              <a:t>MRZ Parser</a:t>
            </a:r>
            <a:r>
              <a:rPr lang="en-US" sz="1100" dirty="0">
                <a:latin typeface="+mn-lt"/>
              </a:rPr>
              <a:t> – passport machine-readable zone validation </a:t>
            </a:r>
          </a:p>
          <a:p>
            <a:pPr>
              <a:buFont typeface="Wingdings" pitchFamily="2" charset="2"/>
              <a:buChar char="Ø"/>
            </a:pPr>
            <a:endParaRPr lang="en-US" sz="1100" dirty="0">
              <a:latin typeface="+mn-lt"/>
            </a:endParaRPr>
          </a:p>
          <a:p>
            <a:r>
              <a:rPr lang="en-US" sz="1200" b="1" dirty="0"/>
              <a:t>Database &amp; Validation</a:t>
            </a:r>
          </a:p>
          <a:p>
            <a:r>
              <a:rPr lang="en-US" sz="1100" b="1" dirty="0">
                <a:latin typeface="+mn-lt"/>
              </a:rPr>
              <a:t>PostgreSQL</a:t>
            </a:r>
            <a:r>
              <a:rPr lang="en-US" sz="1100" dirty="0">
                <a:latin typeface="+mn-lt"/>
              </a:rPr>
              <a:t> – secure storage of verification metadata </a:t>
            </a:r>
          </a:p>
          <a:p>
            <a:r>
              <a:rPr lang="en-US" sz="1100" b="1" dirty="0">
                <a:latin typeface="+mn-lt"/>
              </a:rPr>
              <a:t>Rule Engine</a:t>
            </a:r>
            <a:r>
              <a:rPr lang="en-US" sz="1100" dirty="0">
                <a:latin typeface="+mn-lt"/>
              </a:rPr>
              <a:t> – document format, expiry, DOB and cross-document validation </a:t>
            </a:r>
          </a:p>
          <a:p>
            <a:endParaRPr lang="en-US" sz="1100" dirty="0">
              <a:latin typeface="+mn-lt"/>
            </a:endParaRPr>
          </a:p>
          <a:p>
            <a:r>
              <a:rPr lang="en-US" sz="1200" b="1" dirty="0" err="1"/>
              <a:t>Cybersecurity</a:t>
            </a:r>
            <a:endParaRPr lang="en-US" sz="1200" b="1" dirty="0"/>
          </a:p>
          <a:p>
            <a:r>
              <a:rPr lang="en-US" sz="1100" b="1" dirty="0">
                <a:latin typeface="+mn-lt"/>
              </a:rPr>
              <a:t>TEE (Trusted Execution Environment)</a:t>
            </a:r>
            <a:r>
              <a:rPr lang="en-US" sz="1100" dirty="0">
                <a:latin typeface="+mn-lt"/>
              </a:rPr>
              <a:t> – secure processing of sensitive/biometric data </a:t>
            </a:r>
          </a:p>
          <a:p>
            <a:r>
              <a:rPr lang="en-US" sz="1100" b="1" dirty="0">
                <a:latin typeface="+mn-lt"/>
              </a:rPr>
              <a:t>AES/TLS Encryption</a:t>
            </a:r>
            <a:r>
              <a:rPr lang="en-US" sz="1100" dirty="0">
                <a:latin typeface="+mn-lt"/>
              </a:rPr>
              <a:t> – data protection </a:t>
            </a:r>
          </a:p>
          <a:p>
            <a:r>
              <a:rPr lang="en-US" sz="1100" b="1" dirty="0">
                <a:latin typeface="+mn-lt"/>
              </a:rPr>
              <a:t>RBAC + JWT</a:t>
            </a:r>
            <a:r>
              <a:rPr lang="en-US" sz="1100" dirty="0">
                <a:latin typeface="+mn-lt"/>
              </a:rPr>
              <a:t> – secure access control </a:t>
            </a:r>
          </a:p>
          <a:p>
            <a:endParaRPr lang="en-US" sz="1100" dirty="0">
              <a:latin typeface="+mn-lt"/>
            </a:endParaRPr>
          </a:p>
          <a:p>
            <a:r>
              <a:rPr lang="en-US" sz="1200" b="1" dirty="0" err="1"/>
              <a:t>Blockchain</a:t>
            </a:r>
            <a:endParaRPr lang="en-US" sz="1200" b="1" dirty="0"/>
          </a:p>
          <a:p>
            <a:r>
              <a:rPr lang="en-US" sz="1100" b="1" dirty="0" err="1">
                <a:latin typeface="+mn-lt"/>
              </a:rPr>
              <a:t>Hyperledger</a:t>
            </a:r>
            <a:r>
              <a:rPr lang="en-US" sz="1100" b="1" dirty="0">
                <a:latin typeface="+mn-lt"/>
              </a:rPr>
              <a:t> Fabric / </a:t>
            </a:r>
            <a:r>
              <a:rPr lang="en-US" sz="1100" b="1" dirty="0" err="1">
                <a:latin typeface="+mn-lt"/>
              </a:rPr>
              <a:t>Permissioned</a:t>
            </a:r>
            <a:r>
              <a:rPr lang="en-US" sz="1100" b="1" dirty="0">
                <a:latin typeface="+mn-lt"/>
              </a:rPr>
              <a:t> </a:t>
            </a:r>
            <a:r>
              <a:rPr lang="en-US" sz="1100" b="1" dirty="0" err="1">
                <a:latin typeface="+mn-lt"/>
              </a:rPr>
              <a:t>Blockchain</a:t>
            </a:r>
            <a:r>
              <a:rPr lang="en-US" sz="1100" dirty="0">
                <a:latin typeface="+mn-lt"/>
              </a:rPr>
              <a:t> – tamper-evident verification and audit records </a:t>
            </a:r>
          </a:p>
          <a:p>
            <a:r>
              <a:rPr lang="en-US" sz="1100" b="1" dirty="0">
                <a:latin typeface="+mn-lt"/>
              </a:rPr>
              <a:t>SHA-256 Hashing</a:t>
            </a:r>
            <a:r>
              <a:rPr lang="en-US" sz="1100" dirty="0">
                <a:latin typeface="+mn-lt"/>
              </a:rPr>
              <a:t> – document integrity verification </a:t>
            </a:r>
          </a:p>
        </p:txBody>
      </p:sp>
      <p:sp>
        <p:nvSpPr>
          <p:cNvPr id="18" name="object 3"/>
          <p:cNvSpPr/>
          <p:nvPr/>
        </p:nvSpPr>
        <p:spPr>
          <a:xfrm>
            <a:off x="228600" y="1143000"/>
            <a:ext cx="1524000" cy="5120640"/>
          </a:xfrm>
          <a:custGeom>
            <a:avLst/>
            <a:gdLst/>
            <a:ahLst/>
            <a:cxnLst/>
            <a:rect l="l" t="t" r="r" b="b"/>
            <a:pathLst>
              <a:path w="5941060" h="3547110">
                <a:moveTo>
                  <a:pt x="5941060" y="3547110"/>
                </a:moveTo>
                <a:lnTo>
                  <a:pt x="0" y="3547110"/>
                </a:lnTo>
                <a:lnTo>
                  <a:pt x="0" y="0"/>
                </a:lnTo>
                <a:lnTo>
                  <a:pt x="5941060" y="0"/>
                </a:lnTo>
                <a:lnTo>
                  <a:pt x="594106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3518535"/>
                </a:lnTo>
                <a:lnTo>
                  <a:pt x="14287" y="3518535"/>
                </a:lnTo>
                <a:lnTo>
                  <a:pt x="28575" y="3532822"/>
                </a:lnTo>
                <a:lnTo>
                  <a:pt x="5941060" y="3532822"/>
                </a:lnTo>
                <a:lnTo>
                  <a:pt x="5941060" y="3547110"/>
                </a:lnTo>
                <a:close/>
              </a:path>
              <a:path w="5941060" h="354711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941060" h="3547110">
                <a:moveTo>
                  <a:pt x="591248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912485" y="14287"/>
                </a:lnTo>
                <a:lnTo>
                  <a:pt x="5912485" y="28575"/>
                </a:lnTo>
                <a:close/>
              </a:path>
              <a:path w="5941060" h="3547110">
                <a:moveTo>
                  <a:pt x="5912485" y="3532822"/>
                </a:moveTo>
                <a:lnTo>
                  <a:pt x="5912485" y="14287"/>
                </a:lnTo>
                <a:lnTo>
                  <a:pt x="5926772" y="28575"/>
                </a:lnTo>
                <a:lnTo>
                  <a:pt x="5941060" y="28575"/>
                </a:lnTo>
                <a:lnTo>
                  <a:pt x="5941060" y="3518535"/>
                </a:lnTo>
                <a:lnTo>
                  <a:pt x="5926772" y="3518535"/>
                </a:lnTo>
                <a:lnTo>
                  <a:pt x="5912485" y="3532822"/>
                </a:lnTo>
                <a:close/>
              </a:path>
              <a:path w="5941060" h="3547110">
                <a:moveTo>
                  <a:pt x="5941060" y="28575"/>
                </a:moveTo>
                <a:lnTo>
                  <a:pt x="5926772" y="28575"/>
                </a:lnTo>
                <a:lnTo>
                  <a:pt x="5912485" y="14287"/>
                </a:lnTo>
                <a:lnTo>
                  <a:pt x="5941060" y="14287"/>
                </a:lnTo>
                <a:lnTo>
                  <a:pt x="5941060" y="28575"/>
                </a:lnTo>
                <a:close/>
              </a:path>
              <a:path w="5941060" h="3547110">
                <a:moveTo>
                  <a:pt x="28575" y="3532822"/>
                </a:moveTo>
                <a:lnTo>
                  <a:pt x="14287" y="3518535"/>
                </a:lnTo>
                <a:lnTo>
                  <a:pt x="28575" y="3518535"/>
                </a:lnTo>
                <a:lnTo>
                  <a:pt x="28575" y="3532822"/>
                </a:lnTo>
                <a:close/>
              </a:path>
              <a:path w="5941060" h="3547110">
                <a:moveTo>
                  <a:pt x="5912485" y="3532822"/>
                </a:moveTo>
                <a:lnTo>
                  <a:pt x="28575" y="3532822"/>
                </a:lnTo>
                <a:lnTo>
                  <a:pt x="28575" y="3518535"/>
                </a:lnTo>
                <a:lnTo>
                  <a:pt x="5912485" y="3518535"/>
                </a:lnTo>
                <a:lnTo>
                  <a:pt x="5912485" y="3532822"/>
                </a:lnTo>
                <a:close/>
              </a:path>
              <a:path w="5941060" h="3547110">
                <a:moveTo>
                  <a:pt x="5941060" y="3532822"/>
                </a:moveTo>
                <a:lnTo>
                  <a:pt x="5912485" y="3532822"/>
                </a:lnTo>
                <a:lnTo>
                  <a:pt x="5926772" y="3518535"/>
                </a:lnTo>
                <a:lnTo>
                  <a:pt x="5941060" y="3518535"/>
                </a:lnTo>
                <a:lnTo>
                  <a:pt x="5941060" y="3532822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68592" y="1311592"/>
            <a:ext cx="5941060" cy="2922905"/>
          </a:xfrm>
          <a:custGeom>
            <a:avLst/>
            <a:gdLst/>
            <a:ahLst/>
            <a:cxnLst/>
            <a:rect l="l" t="t" r="r" b="b"/>
            <a:pathLst>
              <a:path w="5941060" h="2922904">
                <a:moveTo>
                  <a:pt x="5941060" y="2922905"/>
                </a:moveTo>
                <a:lnTo>
                  <a:pt x="0" y="2922905"/>
                </a:lnTo>
                <a:lnTo>
                  <a:pt x="0" y="0"/>
                </a:lnTo>
                <a:lnTo>
                  <a:pt x="5941060" y="0"/>
                </a:lnTo>
                <a:lnTo>
                  <a:pt x="594106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894330"/>
                </a:lnTo>
                <a:lnTo>
                  <a:pt x="14287" y="2894330"/>
                </a:lnTo>
                <a:lnTo>
                  <a:pt x="28575" y="2908617"/>
                </a:lnTo>
                <a:lnTo>
                  <a:pt x="5941060" y="2908617"/>
                </a:lnTo>
                <a:lnTo>
                  <a:pt x="5941060" y="2922905"/>
                </a:lnTo>
                <a:close/>
              </a:path>
              <a:path w="5941060" h="292290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941060" h="2922904">
                <a:moveTo>
                  <a:pt x="591248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912485" y="14287"/>
                </a:lnTo>
                <a:lnTo>
                  <a:pt x="5912485" y="28575"/>
                </a:lnTo>
                <a:close/>
              </a:path>
              <a:path w="5941060" h="2922904">
                <a:moveTo>
                  <a:pt x="5912485" y="2908617"/>
                </a:moveTo>
                <a:lnTo>
                  <a:pt x="5912485" y="14287"/>
                </a:lnTo>
                <a:lnTo>
                  <a:pt x="5926772" y="28575"/>
                </a:lnTo>
                <a:lnTo>
                  <a:pt x="5941060" y="28575"/>
                </a:lnTo>
                <a:lnTo>
                  <a:pt x="5941060" y="2894330"/>
                </a:lnTo>
                <a:lnTo>
                  <a:pt x="5926772" y="2894330"/>
                </a:lnTo>
                <a:lnTo>
                  <a:pt x="5912485" y="2908617"/>
                </a:lnTo>
                <a:close/>
              </a:path>
              <a:path w="5941060" h="2922904">
                <a:moveTo>
                  <a:pt x="5941060" y="28575"/>
                </a:moveTo>
                <a:lnTo>
                  <a:pt x="5926772" y="28575"/>
                </a:lnTo>
                <a:lnTo>
                  <a:pt x="5912485" y="14287"/>
                </a:lnTo>
                <a:lnTo>
                  <a:pt x="5941060" y="14287"/>
                </a:lnTo>
                <a:lnTo>
                  <a:pt x="5941060" y="28575"/>
                </a:lnTo>
                <a:close/>
              </a:path>
              <a:path w="5941060" h="2922904">
                <a:moveTo>
                  <a:pt x="28575" y="2908617"/>
                </a:moveTo>
                <a:lnTo>
                  <a:pt x="14287" y="2894330"/>
                </a:lnTo>
                <a:lnTo>
                  <a:pt x="28575" y="2894330"/>
                </a:lnTo>
                <a:lnTo>
                  <a:pt x="28575" y="2908617"/>
                </a:lnTo>
                <a:close/>
              </a:path>
              <a:path w="5941060" h="2922904">
                <a:moveTo>
                  <a:pt x="5912485" y="2908617"/>
                </a:moveTo>
                <a:lnTo>
                  <a:pt x="28575" y="2908617"/>
                </a:lnTo>
                <a:lnTo>
                  <a:pt x="28575" y="2894330"/>
                </a:lnTo>
                <a:lnTo>
                  <a:pt x="5912485" y="2894330"/>
                </a:lnTo>
                <a:lnTo>
                  <a:pt x="5912485" y="2908617"/>
                </a:lnTo>
                <a:close/>
              </a:path>
              <a:path w="5941060" h="2922904">
                <a:moveTo>
                  <a:pt x="5941060" y="2908617"/>
                </a:moveTo>
                <a:lnTo>
                  <a:pt x="5912485" y="2908617"/>
                </a:lnTo>
                <a:lnTo>
                  <a:pt x="5926772" y="2894330"/>
                </a:lnTo>
                <a:lnTo>
                  <a:pt x="5941060" y="2894330"/>
                </a:lnTo>
                <a:lnTo>
                  <a:pt x="5941060" y="29086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261620" y="1898014"/>
            <a:ext cx="5652770" cy="2584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8450" marR="95885" indent="-28575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98450" algn="l"/>
              </a:tabLst>
            </a:pPr>
            <a:endParaRPr spc="-10" dirty="0"/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19" y="185496"/>
            <a:ext cx="2234285" cy="52832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8592" y="4285932"/>
            <a:ext cx="8341359" cy="2002789"/>
          </a:xfrm>
          <a:custGeom>
            <a:avLst/>
            <a:gdLst/>
            <a:ahLst/>
            <a:cxnLst/>
            <a:rect l="l" t="t" r="r" b="b"/>
            <a:pathLst>
              <a:path w="8341359" h="2002789">
                <a:moveTo>
                  <a:pt x="8327072" y="2002789"/>
                </a:moveTo>
                <a:lnTo>
                  <a:pt x="14287" y="2002789"/>
                </a:lnTo>
                <a:lnTo>
                  <a:pt x="11506" y="2002510"/>
                </a:lnTo>
                <a:lnTo>
                  <a:pt x="0" y="1988502"/>
                </a:lnTo>
                <a:lnTo>
                  <a:pt x="0" y="14287"/>
                </a:lnTo>
                <a:lnTo>
                  <a:pt x="14287" y="0"/>
                </a:lnTo>
                <a:lnTo>
                  <a:pt x="8327072" y="0"/>
                </a:lnTo>
                <a:lnTo>
                  <a:pt x="834136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1974214"/>
                </a:lnTo>
                <a:lnTo>
                  <a:pt x="14287" y="1974214"/>
                </a:lnTo>
                <a:lnTo>
                  <a:pt x="28575" y="1988502"/>
                </a:lnTo>
                <a:lnTo>
                  <a:pt x="8341360" y="1988502"/>
                </a:lnTo>
                <a:lnTo>
                  <a:pt x="8341080" y="1991283"/>
                </a:lnTo>
                <a:lnTo>
                  <a:pt x="8329853" y="2002510"/>
                </a:lnTo>
                <a:lnTo>
                  <a:pt x="8327072" y="2002789"/>
                </a:lnTo>
                <a:close/>
              </a:path>
              <a:path w="8341359" h="2002789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8341359" h="2002789">
                <a:moveTo>
                  <a:pt x="831278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8312785" y="14287"/>
                </a:lnTo>
                <a:lnTo>
                  <a:pt x="8312785" y="28575"/>
                </a:lnTo>
                <a:close/>
              </a:path>
              <a:path w="8341359" h="2002789">
                <a:moveTo>
                  <a:pt x="8312785" y="1988502"/>
                </a:moveTo>
                <a:lnTo>
                  <a:pt x="8312785" y="14287"/>
                </a:lnTo>
                <a:lnTo>
                  <a:pt x="8327072" y="28575"/>
                </a:lnTo>
                <a:lnTo>
                  <a:pt x="8341360" y="28575"/>
                </a:lnTo>
                <a:lnTo>
                  <a:pt x="8341360" y="1974214"/>
                </a:lnTo>
                <a:lnTo>
                  <a:pt x="8327072" y="1974214"/>
                </a:lnTo>
                <a:lnTo>
                  <a:pt x="8312785" y="1988502"/>
                </a:lnTo>
                <a:close/>
              </a:path>
              <a:path w="8341359" h="2002789">
                <a:moveTo>
                  <a:pt x="8341360" y="28575"/>
                </a:moveTo>
                <a:lnTo>
                  <a:pt x="8327072" y="28575"/>
                </a:lnTo>
                <a:lnTo>
                  <a:pt x="8312785" y="14287"/>
                </a:lnTo>
                <a:lnTo>
                  <a:pt x="8341360" y="14287"/>
                </a:lnTo>
                <a:lnTo>
                  <a:pt x="8341360" y="28575"/>
                </a:lnTo>
                <a:close/>
              </a:path>
              <a:path w="8341359" h="2002789">
                <a:moveTo>
                  <a:pt x="28575" y="1988502"/>
                </a:moveTo>
                <a:lnTo>
                  <a:pt x="14287" y="1974214"/>
                </a:lnTo>
                <a:lnTo>
                  <a:pt x="28575" y="1974214"/>
                </a:lnTo>
                <a:lnTo>
                  <a:pt x="28575" y="1988502"/>
                </a:lnTo>
                <a:close/>
              </a:path>
              <a:path w="8341359" h="2002789">
                <a:moveTo>
                  <a:pt x="8312785" y="1988502"/>
                </a:moveTo>
                <a:lnTo>
                  <a:pt x="28575" y="1988502"/>
                </a:lnTo>
                <a:lnTo>
                  <a:pt x="28575" y="1974214"/>
                </a:lnTo>
                <a:lnTo>
                  <a:pt x="8312785" y="1974214"/>
                </a:lnTo>
                <a:lnTo>
                  <a:pt x="8312785" y="1988502"/>
                </a:lnTo>
                <a:close/>
              </a:path>
              <a:path w="8341359" h="2002789">
                <a:moveTo>
                  <a:pt x="8341360" y="1988502"/>
                </a:moveTo>
                <a:lnTo>
                  <a:pt x="8312785" y="1988502"/>
                </a:lnTo>
                <a:lnTo>
                  <a:pt x="8327072" y="1974214"/>
                </a:lnTo>
                <a:lnTo>
                  <a:pt x="8341360" y="1974214"/>
                </a:lnTo>
                <a:lnTo>
                  <a:pt x="8341360" y="1988502"/>
                </a:lnTo>
                <a:close/>
              </a:path>
            </a:pathLst>
          </a:custGeom>
          <a:solidFill>
            <a:srgbClr val="4F81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123622" y="1311592"/>
            <a:ext cx="5941060" cy="2922905"/>
          </a:xfrm>
          <a:custGeom>
            <a:avLst/>
            <a:gdLst/>
            <a:ahLst/>
            <a:cxnLst/>
            <a:rect l="l" t="t" r="r" b="b"/>
            <a:pathLst>
              <a:path w="5941059" h="2922904">
                <a:moveTo>
                  <a:pt x="5926772" y="2922905"/>
                </a:moveTo>
                <a:lnTo>
                  <a:pt x="14287" y="2922905"/>
                </a:lnTo>
                <a:lnTo>
                  <a:pt x="11506" y="2922625"/>
                </a:lnTo>
                <a:lnTo>
                  <a:pt x="0" y="2908617"/>
                </a:lnTo>
                <a:lnTo>
                  <a:pt x="0" y="14287"/>
                </a:lnTo>
                <a:lnTo>
                  <a:pt x="14287" y="0"/>
                </a:lnTo>
                <a:lnTo>
                  <a:pt x="5926772" y="0"/>
                </a:lnTo>
                <a:lnTo>
                  <a:pt x="594106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894330"/>
                </a:lnTo>
                <a:lnTo>
                  <a:pt x="14287" y="2894330"/>
                </a:lnTo>
                <a:lnTo>
                  <a:pt x="28575" y="2908617"/>
                </a:lnTo>
                <a:lnTo>
                  <a:pt x="5941060" y="2908617"/>
                </a:lnTo>
                <a:lnTo>
                  <a:pt x="5940780" y="2911398"/>
                </a:lnTo>
                <a:lnTo>
                  <a:pt x="5929553" y="2922625"/>
                </a:lnTo>
                <a:lnTo>
                  <a:pt x="5926772" y="2922905"/>
                </a:lnTo>
                <a:close/>
              </a:path>
              <a:path w="5941059" h="292290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941059" h="2922904">
                <a:moveTo>
                  <a:pt x="591248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912485" y="14287"/>
                </a:lnTo>
                <a:lnTo>
                  <a:pt x="5912485" y="28575"/>
                </a:lnTo>
                <a:close/>
              </a:path>
              <a:path w="5941059" h="2922904">
                <a:moveTo>
                  <a:pt x="5912485" y="2908617"/>
                </a:moveTo>
                <a:lnTo>
                  <a:pt x="5912485" y="14287"/>
                </a:lnTo>
                <a:lnTo>
                  <a:pt x="5926772" y="28575"/>
                </a:lnTo>
                <a:lnTo>
                  <a:pt x="5941060" y="28575"/>
                </a:lnTo>
                <a:lnTo>
                  <a:pt x="5941060" y="2894330"/>
                </a:lnTo>
                <a:lnTo>
                  <a:pt x="5926772" y="2894330"/>
                </a:lnTo>
                <a:lnTo>
                  <a:pt x="5912485" y="2908617"/>
                </a:lnTo>
                <a:close/>
              </a:path>
              <a:path w="5941059" h="2922904">
                <a:moveTo>
                  <a:pt x="5941060" y="28575"/>
                </a:moveTo>
                <a:lnTo>
                  <a:pt x="5926772" y="28575"/>
                </a:lnTo>
                <a:lnTo>
                  <a:pt x="5912485" y="14287"/>
                </a:lnTo>
                <a:lnTo>
                  <a:pt x="5941060" y="14287"/>
                </a:lnTo>
                <a:lnTo>
                  <a:pt x="5941060" y="28575"/>
                </a:lnTo>
                <a:close/>
              </a:path>
              <a:path w="5941059" h="2922904">
                <a:moveTo>
                  <a:pt x="28575" y="2908617"/>
                </a:moveTo>
                <a:lnTo>
                  <a:pt x="14287" y="2894330"/>
                </a:lnTo>
                <a:lnTo>
                  <a:pt x="28575" y="2894330"/>
                </a:lnTo>
                <a:lnTo>
                  <a:pt x="28575" y="2908617"/>
                </a:lnTo>
                <a:close/>
              </a:path>
              <a:path w="5941059" h="2922904">
                <a:moveTo>
                  <a:pt x="5912485" y="2908617"/>
                </a:moveTo>
                <a:lnTo>
                  <a:pt x="28575" y="2908617"/>
                </a:lnTo>
                <a:lnTo>
                  <a:pt x="28575" y="2894330"/>
                </a:lnTo>
                <a:lnTo>
                  <a:pt x="5912485" y="2894330"/>
                </a:lnTo>
                <a:lnTo>
                  <a:pt x="5912485" y="2908617"/>
                </a:lnTo>
                <a:close/>
              </a:path>
              <a:path w="5941059" h="2922904">
                <a:moveTo>
                  <a:pt x="5941060" y="2908617"/>
                </a:moveTo>
                <a:lnTo>
                  <a:pt x="5912485" y="2908617"/>
                </a:lnTo>
                <a:lnTo>
                  <a:pt x="5926772" y="2894330"/>
                </a:lnTo>
                <a:lnTo>
                  <a:pt x="5941060" y="2894330"/>
                </a:lnTo>
                <a:lnTo>
                  <a:pt x="5941060" y="29086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4</a:t>
            </a:fld>
            <a:endParaRPr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1CAFE9-EC94-8989-0FEE-B7BACEA01CDB}"/>
              </a:ext>
            </a:extLst>
          </p:cNvPr>
          <p:cNvSpPr txBox="1"/>
          <p:nvPr/>
        </p:nvSpPr>
        <p:spPr>
          <a:xfrm>
            <a:off x="4848703" y="359873"/>
            <a:ext cx="3161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u="sng" dirty="0">
                <a:latin typeface="Bell MT" pitchFamily="18" charset="0"/>
              </a:rPr>
              <a:t>VERIFEX AI</a:t>
            </a:r>
            <a:endParaRPr lang="en-I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AC86BB-AA47-5003-78D0-CA5BE3CD8F6E}"/>
              </a:ext>
            </a:extLst>
          </p:cNvPr>
          <p:cNvSpPr txBox="1"/>
          <p:nvPr/>
        </p:nvSpPr>
        <p:spPr>
          <a:xfrm>
            <a:off x="3489543" y="6428601"/>
            <a:ext cx="51972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“Empowering India’s cyber shield — securing every connection, every mission.”</a:t>
            </a:r>
            <a:endParaRPr lang="en-IN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3CD60B-DAC1-992E-3DCE-085DA614EB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194" name="AutoShape 2" descr="Methodology &amp; Process: Secure Verification Pip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6" name="AutoShape 4" descr="Methodology &amp; Process: Secure Verification Pip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198" name="AutoShape 6" descr="Methodology &amp; Process: Secure Verification Pipelin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201" name="Picture 9" descr="C:\Users\hp\Downloads\ChatGPT Image Sep 16, 2026, 10_35_01 PM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1066800"/>
            <a:ext cx="12192000" cy="5791200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/>
        </p:nvSpPr>
        <p:spPr>
          <a:xfrm>
            <a:off x="455654" y="228600"/>
            <a:ext cx="17315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latin typeface="Cambria" pitchFamily="18" charset="0"/>
                <a:ea typeface="Cambria" pitchFamily="18" charset="0"/>
              </a:rPr>
              <a:t>RISU NEXORA</a:t>
            </a:r>
            <a:endParaRPr lang="en-IN" sz="2000" b="1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8592" y="1311591"/>
            <a:ext cx="5470208" cy="2422209"/>
          </a:xfrm>
          <a:custGeom>
            <a:avLst/>
            <a:gdLst/>
            <a:ahLst/>
            <a:cxnLst/>
            <a:rect l="l" t="t" r="r" b="b"/>
            <a:pathLst>
              <a:path w="5941060" h="2922904">
                <a:moveTo>
                  <a:pt x="5941060" y="2922905"/>
                </a:moveTo>
                <a:lnTo>
                  <a:pt x="0" y="2922905"/>
                </a:lnTo>
                <a:lnTo>
                  <a:pt x="0" y="0"/>
                </a:lnTo>
                <a:lnTo>
                  <a:pt x="5941060" y="0"/>
                </a:lnTo>
                <a:lnTo>
                  <a:pt x="594106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2894330"/>
                </a:lnTo>
                <a:lnTo>
                  <a:pt x="14287" y="2894330"/>
                </a:lnTo>
                <a:lnTo>
                  <a:pt x="28575" y="2908617"/>
                </a:lnTo>
                <a:lnTo>
                  <a:pt x="5941060" y="2908617"/>
                </a:lnTo>
                <a:lnTo>
                  <a:pt x="5941060" y="2922905"/>
                </a:lnTo>
                <a:close/>
              </a:path>
              <a:path w="5941060" h="2922904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941060" h="2922904">
                <a:moveTo>
                  <a:pt x="591248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912485" y="14287"/>
                </a:lnTo>
                <a:lnTo>
                  <a:pt x="5912485" y="28575"/>
                </a:lnTo>
                <a:close/>
              </a:path>
              <a:path w="5941060" h="2922904">
                <a:moveTo>
                  <a:pt x="5912485" y="2908617"/>
                </a:moveTo>
                <a:lnTo>
                  <a:pt x="5912485" y="14287"/>
                </a:lnTo>
                <a:lnTo>
                  <a:pt x="5926772" y="28575"/>
                </a:lnTo>
                <a:lnTo>
                  <a:pt x="5941060" y="28575"/>
                </a:lnTo>
                <a:lnTo>
                  <a:pt x="5941060" y="2894330"/>
                </a:lnTo>
                <a:lnTo>
                  <a:pt x="5926772" y="2894330"/>
                </a:lnTo>
                <a:lnTo>
                  <a:pt x="5912485" y="2908617"/>
                </a:lnTo>
                <a:close/>
              </a:path>
              <a:path w="5941060" h="2922904">
                <a:moveTo>
                  <a:pt x="5941060" y="28575"/>
                </a:moveTo>
                <a:lnTo>
                  <a:pt x="5926772" y="28575"/>
                </a:lnTo>
                <a:lnTo>
                  <a:pt x="5912485" y="14287"/>
                </a:lnTo>
                <a:lnTo>
                  <a:pt x="5941060" y="14287"/>
                </a:lnTo>
                <a:lnTo>
                  <a:pt x="5941060" y="28575"/>
                </a:lnTo>
                <a:close/>
              </a:path>
              <a:path w="5941060" h="2922904">
                <a:moveTo>
                  <a:pt x="28575" y="2908617"/>
                </a:moveTo>
                <a:lnTo>
                  <a:pt x="14287" y="2894330"/>
                </a:lnTo>
                <a:lnTo>
                  <a:pt x="28575" y="2894330"/>
                </a:lnTo>
                <a:lnTo>
                  <a:pt x="28575" y="2908617"/>
                </a:lnTo>
                <a:close/>
              </a:path>
              <a:path w="5941060" h="2922904">
                <a:moveTo>
                  <a:pt x="5912485" y="2908617"/>
                </a:moveTo>
                <a:lnTo>
                  <a:pt x="28575" y="2908617"/>
                </a:lnTo>
                <a:lnTo>
                  <a:pt x="28575" y="2894330"/>
                </a:lnTo>
                <a:lnTo>
                  <a:pt x="5912485" y="2894330"/>
                </a:lnTo>
                <a:lnTo>
                  <a:pt x="5912485" y="2908617"/>
                </a:lnTo>
                <a:close/>
              </a:path>
              <a:path w="5941060" h="2922904">
                <a:moveTo>
                  <a:pt x="5941060" y="2908617"/>
                </a:moveTo>
                <a:lnTo>
                  <a:pt x="5912485" y="2908617"/>
                </a:lnTo>
                <a:lnTo>
                  <a:pt x="5926772" y="2894330"/>
                </a:lnTo>
                <a:lnTo>
                  <a:pt x="5941060" y="2894330"/>
                </a:lnTo>
                <a:lnTo>
                  <a:pt x="5941060" y="29086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19" y="185496"/>
            <a:ext cx="2234285" cy="528320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5715000" y="1309687"/>
            <a:ext cx="6414452" cy="4978400"/>
          </a:xfrm>
          <a:custGeom>
            <a:avLst/>
            <a:gdLst/>
            <a:ahLst/>
            <a:cxnLst/>
            <a:rect l="l" t="t" r="r" b="b"/>
            <a:pathLst>
              <a:path w="5981700" h="4978400">
                <a:moveTo>
                  <a:pt x="5967412" y="4978400"/>
                </a:moveTo>
                <a:lnTo>
                  <a:pt x="14287" y="4978400"/>
                </a:lnTo>
                <a:lnTo>
                  <a:pt x="11493" y="4978120"/>
                </a:lnTo>
                <a:lnTo>
                  <a:pt x="0" y="4964112"/>
                </a:lnTo>
                <a:lnTo>
                  <a:pt x="0" y="14287"/>
                </a:lnTo>
                <a:lnTo>
                  <a:pt x="14287" y="0"/>
                </a:lnTo>
                <a:lnTo>
                  <a:pt x="5967412" y="0"/>
                </a:lnTo>
                <a:lnTo>
                  <a:pt x="598170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949825"/>
                </a:lnTo>
                <a:lnTo>
                  <a:pt x="14287" y="4949825"/>
                </a:lnTo>
                <a:lnTo>
                  <a:pt x="28575" y="4964112"/>
                </a:lnTo>
                <a:lnTo>
                  <a:pt x="5981700" y="4964112"/>
                </a:lnTo>
                <a:lnTo>
                  <a:pt x="5981420" y="4966893"/>
                </a:lnTo>
                <a:lnTo>
                  <a:pt x="5970193" y="4978120"/>
                </a:lnTo>
                <a:lnTo>
                  <a:pt x="5967412" y="4978400"/>
                </a:lnTo>
                <a:close/>
              </a:path>
              <a:path w="5981700" h="49784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981700" h="4978400">
                <a:moveTo>
                  <a:pt x="595312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953125" y="14287"/>
                </a:lnTo>
                <a:lnTo>
                  <a:pt x="5953125" y="28575"/>
                </a:lnTo>
                <a:close/>
              </a:path>
              <a:path w="5981700" h="4978400">
                <a:moveTo>
                  <a:pt x="5953125" y="4964112"/>
                </a:moveTo>
                <a:lnTo>
                  <a:pt x="5953125" y="14287"/>
                </a:lnTo>
                <a:lnTo>
                  <a:pt x="5967412" y="28575"/>
                </a:lnTo>
                <a:lnTo>
                  <a:pt x="5981700" y="28575"/>
                </a:lnTo>
                <a:lnTo>
                  <a:pt x="5981700" y="4949825"/>
                </a:lnTo>
                <a:lnTo>
                  <a:pt x="5967412" y="4949825"/>
                </a:lnTo>
                <a:lnTo>
                  <a:pt x="5953125" y="4964112"/>
                </a:lnTo>
                <a:close/>
              </a:path>
              <a:path w="5981700" h="4978400">
                <a:moveTo>
                  <a:pt x="5981700" y="28575"/>
                </a:moveTo>
                <a:lnTo>
                  <a:pt x="5967412" y="28575"/>
                </a:lnTo>
                <a:lnTo>
                  <a:pt x="5953125" y="14287"/>
                </a:lnTo>
                <a:lnTo>
                  <a:pt x="5981700" y="14287"/>
                </a:lnTo>
                <a:lnTo>
                  <a:pt x="5981700" y="28575"/>
                </a:lnTo>
                <a:close/>
              </a:path>
              <a:path w="5981700" h="4978400">
                <a:moveTo>
                  <a:pt x="28575" y="4964112"/>
                </a:moveTo>
                <a:lnTo>
                  <a:pt x="14287" y="4949825"/>
                </a:lnTo>
                <a:lnTo>
                  <a:pt x="28575" y="4949825"/>
                </a:lnTo>
                <a:lnTo>
                  <a:pt x="28575" y="4964112"/>
                </a:lnTo>
                <a:close/>
              </a:path>
              <a:path w="5981700" h="4978400">
                <a:moveTo>
                  <a:pt x="5953125" y="4964112"/>
                </a:moveTo>
                <a:lnTo>
                  <a:pt x="28575" y="4964112"/>
                </a:lnTo>
                <a:lnTo>
                  <a:pt x="28575" y="4949825"/>
                </a:lnTo>
                <a:lnTo>
                  <a:pt x="5953125" y="4949825"/>
                </a:lnTo>
                <a:lnTo>
                  <a:pt x="5953125" y="4964112"/>
                </a:lnTo>
                <a:close/>
              </a:path>
              <a:path w="5981700" h="4978400">
                <a:moveTo>
                  <a:pt x="5981700" y="4964112"/>
                </a:moveTo>
                <a:lnTo>
                  <a:pt x="5953125" y="4964112"/>
                </a:lnTo>
                <a:lnTo>
                  <a:pt x="5967412" y="4949825"/>
                </a:lnTo>
                <a:lnTo>
                  <a:pt x="5981700" y="4949825"/>
                </a:lnTo>
                <a:lnTo>
                  <a:pt x="5981700" y="496411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10839" y="6415663"/>
            <a:ext cx="5902325" cy="21095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5"/>
              </a:spcBef>
            </a:pPr>
            <a:endParaRPr sz="125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5</a:t>
            </a:fld>
            <a:endParaRPr spc="-5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D008D-BED7-DAAE-E4A2-C1EFF8F23EBA}"/>
              </a:ext>
            </a:extLst>
          </p:cNvPr>
          <p:cNvSpPr txBox="1"/>
          <p:nvPr/>
        </p:nvSpPr>
        <p:spPr>
          <a:xfrm>
            <a:off x="228600" y="1371600"/>
            <a:ext cx="533400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/>
              <a:t>Feasibility of the Idea</a:t>
            </a:r>
          </a:p>
          <a:p>
            <a:pPr algn="ctr"/>
            <a:endParaRPr lang="en-US" sz="2000" b="1" dirty="0"/>
          </a:p>
          <a:p>
            <a:pPr marL="342900" indent="-342900" algn="l">
              <a:buFont typeface="+mj-lt"/>
              <a:buAutoNum type="romanUcPeriod"/>
            </a:pPr>
            <a:r>
              <a:rPr lang="en-US" sz="1600" b="1" dirty="0">
                <a:latin typeface="+mn-lt"/>
              </a:rPr>
              <a:t>Technically Feasible</a:t>
            </a:r>
            <a:r>
              <a:rPr lang="en-US" sz="1600" dirty="0">
                <a:latin typeface="+mn-lt"/>
              </a:rPr>
              <a:t> </a:t>
            </a:r>
            <a:r>
              <a:rPr lang="en-US" sz="1600" b="1" dirty="0">
                <a:latin typeface="+mn-lt"/>
              </a:rPr>
              <a:t>Uses Proven AI </a:t>
            </a:r>
          </a:p>
          <a:p>
            <a:pPr marL="342900" indent="-342900" algn="l">
              <a:buFont typeface="+mj-lt"/>
              <a:buAutoNum type="romanUcPeriod"/>
            </a:pPr>
            <a:r>
              <a:rPr lang="en-US" sz="1600" b="1" dirty="0">
                <a:latin typeface="+mn-lt"/>
              </a:rPr>
              <a:t>Technologies</a:t>
            </a:r>
            <a:r>
              <a:rPr lang="en-US" sz="1600" dirty="0">
                <a:latin typeface="+mn-lt"/>
              </a:rPr>
              <a:t> </a:t>
            </a:r>
            <a:r>
              <a:rPr lang="en-US" sz="1600" b="1" dirty="0">
                <a:latin typeface="+mn-lt"/>
              </a:rPr>
              <a:t>Modular &amp; Scalable Architecture</a:t>
            </a:r>
          </a:p>
          <a:p>
            <a:pPr marL="342900" indent="-342900" algn="l">
              <a:buFont typeface="+mj-lt"/>
              <a:buAutoNum type="romanUcPeriod"/>
            </a:pPr>
            <a:r>
              <a:rPr lang="en-US" sz="1600" dirty="0">
                <a:latin typeface="+mn-lt"/>
              </a:rPr>
              <a:t> </a:t>
            </a:r>
            <a:r>
              <a:rPr lang="en-US" sz="1600" b="1" dirty="0">
                <a:latin typeface="+mn-lt"/>
              </a:rPr>
              <a:t>Low-Cost Prototype Using Open-Source Tools</a:t>
            </a:r>
            <a:r>
              <a:rPr lang="en-US" sz="1600" dirty="0">
                <a:latin typeface="+mn-lt"/>
              </a:rPr>
              <a:t> </a:t>
            </a:r>
          </a:p>
          <a:p>
            <a:pPr marL="342900" indent="-342900" algn="l">
              <a:buFont typeface="+mj-lt"/>
              <a:buAutoNum type="romanUcPeriod"/>
            </a:pPr>
            <a:r>
              <a:rPr lang="en-US" sz="1600" b="1" dirty="0">
                <a:latin typeface="+mn-lt"/>
              </a:rPr>
              <a:t>Secure Data Processing</a:t>
            </a:r>
          </a:p>
          <a:p>
            <a:pPr marL="342900" indent="-342900" algn="l">
              <a:buFont typeface="+mj-lt"/>
              <a:buAutoNum type="romanUcPeriod"/>
            </a:pPr>
            <a:r>
              <a:rPr lang="en-US" sz="1600" dirty="0">
                <a:latin typeface="+mn-lt"/>
              </a:rPr>
              <a:t> </a:t>
            </a:r>
            <a:r>
              <a:rPr lang="en-US" sz="1600" b="1" dirty="0">
                <a:latin typeface="+mn-lt"/>
              </a:rPr>
              <a:t>Real-Time Verification Capability</a:t>
            </a:r>
          </a:p>
          <a:p>
            <a:pPr marL="342900" indent="-342900" algn="l">
              <a:buFont typeface="+mj-lt"/>
              <a:buAutoNum type="romanUcPeriod"/>
            </a:pPr>
            <a:r>
              <a:rPr lang="en-US" sz="1600" dirty="0">
                <a:latin typeface="+mn-lt"/>
              </a:rPr>
              <a:t> </a:t>
            </a:r>
            <a:r>
              <a:rPr lang="en-US" sz="1600" b="1" dirty="0">
                <a:latin typeface="+mn-lt"/>
              </a:rPr>
              <a:t>Human-in-the-Loop Decision Making</a:t>
            </a:r>
            <a:r>
              <a:rPr lang="en-US" sz="1600" dirty="0">
                <a:latin typeface="+mn-lt"/>
              </a:rPr>
              <a:t> </a:t>
            </a:r>
          </a:p>
          <a:p>
            <a:pPr marL="342900" indent="-342900" algn="l">
              <a:buFont typeface="+mj-lt"/>
              <a:buAutoNum type="romanUcPeriod"/>
            </a:pPr>
            <a:r>
              <a:rPr lang="en-US" sz="1600" b="1" dirty="0">
                <a:latin typeface="+mn-lt"/>
              </a:rPr>
              <a:t>Future Integration with Authorized Databases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E8B36C-CC8A-AF7E-E5B6-BFED00440BEC}"/>
              </a:ext>
            </a:extLst>
          </p:cNvPr>
          <p:cNvSpPr txBox="1"/>
          <p:nvPr/>
        </p:nvSpPr>
        <p:spPr>
          <a:xfrm>
            <a:off x="5715000" y="1309687"/>
            <a:ext cx="6427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u="sng" dirty="0"/>
              <a:t>Strategies to Overcome Challenges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34E048-5C0F-D7C4-127A-F60EF9613A42}"/>
              </a:ext>
            </a:extLst>
          </p:cNvPr>
          <p:cNvSpPr txBox="1"/>
          <p:nvPr/>
        </p:nvSpPr>
        <p:spPr>
          <a:xfrm>
            <a:off x="4913155" y="359873"/>
            <a:ext cx="3161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u="sng" dirty="0">
                <a:latin typeface="Bell MT" pitchFamily="18" charset="0"/>
              </a:rPr>
              <a:t>VERIFEX AI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D7AC40-10BB-26DB-363C-1F11551C7C3D}"/>
              </a:ext>
            </a:extLst>
          </p:cNvPr>
          <p:cNvSpPr txBox="1"/>
          <p:nvPr/>
        </p:nvSpPr>
        <p:spPr>
          <a:xfrm>
            <a:off x="3669594" y="6428601"/>
            <a:ext cx="4636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“Rooted in research. Reinforced by innovation. Ready for deployment.”</a:t>
            </a:r>
            <a:endParaRPr lang="en-IN" sz="12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4D7A65-AB88-D151-53CD-F132D78ABE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897984"/>
              </p:ext>
            </p:extLst>
          </p:nvPr>
        </p:nvGraphicFramePr>
        <p:xfrm>
          <a:off x="5791200" y="1739142"/>
          <a:ext cx="6172200" cy="4539738"/>
        </p:xfrm>
        <a:graphic>
          <a:graphicData uri="http://schemas.openxmlformats.org/drawingml/2006/table">
            <a:tbl>
              <a:tblPr/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8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063">
                <a:tc>
                  <a:txBody>
                    <a:bodyPr/>
                    <a:lstStyle/>
                    <a:p>
                      <a:r>
                        <a:rPr lang="en-US" sz="1600" b="1" u="sng" dirty="0">
                          <a:latin typeface="Bell MT" pitchFamily="18" charset="0"/>
                        </a:rPr>
                        <a:t>Challenge</a:t>
                      </a:r>
                      <a:endParaRPr lang="en-US" sz="1600" u="sng" dirty="0">
                        <a:latin typeface="Bell MT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u="sng" dirty="0">
                          <a:latin typeface="Bell MT" pitchFamily="18" charset="0"/>
                        </a:rPr>
                        <a:t>Our Strategy</a:t>
                      </a:r>
                      <a:endParaRPr lang="en-US" sz="1600" u="sng" dirty="0">
                        <a:latin typeface="Bell MT" pitchFamily="18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745">
                <a:tc>
                  <a:txBody>
                    <a:bodyPr/>
                    <a:lstStyle/>
                    <a:p>
                      <a:r>
                        <a:rPr lang="en-US" sz="1600" dirty="0"/>
                        <a:t>Forged &amp; tampered documents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AI-based image forensics and anomaly detection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745">
                <a:tc>
                  <a:txBody>
                    <a:bodyPr/>
                    <a:lstStyle/>
                    <a:p>
                      <a:r>
                        <a:rPr lang="en-US" sz="1600" dirty="0"/>
                        <a:t>Poor-quality document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Image preprocessing, enhancement and alignment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063">
                <a:tc>
                  <a:txBody>
                    <a:bodyPr/>
                    <a:lstStyle/>
                    <a:p>
                      <a:r>
                        <a:rPr lang="en-US" sz="1600"/>
                        <a:t>OCR errors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OCR + MRZ cross-validation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745">
                <a:tc>
                  <a:txBody>
                    <a:bodyPr/>
                    <a:lstStyle/>
                    <a:p>
                      <a:r>
                        <a:rPr lang="en-US" sz="1600"/>
                        <a:t>Identity impersonation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Face verification with confidence scoring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458">
                <a:tc>
                  <a:txBody>
                    <a:bodyPr/>
                    <a:lstStyle/>
                    <a:p>
                      <a:r>
                        <a:rPr lang="en-US" sz="1600"/>
                        <a:t>Multiple document inconsistencies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Identity Consistency Graph (ICG)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745">
                <a:tc>
                  <a:txBody>
                    <a:bodyPr/>
                    <a:lstStyle/>
                    <a:p>
                      <a:r>
                        <a:rPr lang="en-US" sz="1600" dirty="0"/>
                        <a:t>Sensitive biometric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TEE, encryption and secure 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745">
                <a:tc>
                  <a:txBody>
                    <a:bodyPr/>
                    <a:lstStyle/>
                    <a:p>
                      <a:r>
                        <a:rPr lang="en-US" sz="1600"/>
                        <a:t>High passenger volume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Automated, real-time verification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745">
                <a:tc>
                  <a:txBody>
                    <a:bodyPr/>
                    <a:lstStyle/>
                    <a:p>
                      <a:r>
                        <a:rPr lang="en-US" sz="1600"/>
                        <a:t>Data integrity &amp; auditability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Permissioned blockchain with hashed records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" name="object 10"/>
          <p:cNvSpPr/>
          <p:nvPr/>
        </p:nvSpPr>
        <p:spPr>
          <a:xfrm>
            <a:off x="152400" y="3810001"/>
            <a:ext cx="5410200" cy="2438399"/>
          </a:xfrm>
          <a:custGeom>
            <a:avLst/>
            <a:gdLst/>
            <a:ahLst/>
            <a:cxnLst/>
            <a:rect l="l" t="t" r="r" b="b"/>
            <a:pathLst>
              <a:path w="5981700" h="4978400">
                <a:moveTo>
                  <a:pt x="5967412" y="4978400"/>
                </a:moveTo>
                <a:lnTo>
                  <a:pt x="14287" y="4978400"/>
                </a:lnTo>
                <a:lnTo>
                  <a:pt x="11493" y="4978120"/>
                </a:lnTo>
                <a:lnTo>
                  <a:pt x="0" y="4964112"/>
                </a:lnTo>
                <a:lnTo>
                  <a:pt x="0" y="14287"/>
                </a:lnTo>
                <a:lnTo>
                  <a:pt x="14287" y="0"/>
                </a:lnTo>
                <a:lnTo>
                  <a:pt x="5967412" y="0"/>
                </a:lnTo>
                <a:lnTo>
                  <a:pt x="598170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4949825"/>
                </a:lnTo>
                <a:lnTo>
                  <a:pt x="14287" y="4949825"/>
                </a:lnTo>
                <a:lnTo>
                  <a:pt x="28575" y="4964112"/>
                </a:lnTo>
                <a:lnTo>
                  <a:pt x="5981700" y="4964112"/>
                </a:lnTo>
                <a:lnTo>
                  <a:pt x="5981420" y="4966893"/>
                </a:lnTo>
                <a:lnTo>
                  <a:pt x="5970193" y="4978120"/>
                </a:lnTo>
                <a:lnTo>
                  <a:pt x="5967412" y="4978400"/>
                </a:lnTo>
                <a:close/>
              </a:path>
              <a:path w="5981700" h="4978400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5981700" h="4978400">
                <a:moveTo>
                  <a:pt x="595312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5953125" y="14287"/>
                </a:lnTo>
                <a:lnTo>
                  <a:pt x="5953125" y="28575"/>
                </a:lnTo>
                <a:close/>
              </a:path>
              <a:path w="5981700" h="4978400">
                <a:moveTo>
                  <a:pt x="5953125" y="4964112"/>
                </a:moveTo>
                <a:lnTo>
                  <a:pt x="5953125" y="14287"/>
                </a:lnTo>
                <a:lnTo>
                  <a:pt x="5967412" y="28575"/>
                </a:lnTo>
                <a:lnTo>
                  <a:pt x="5981700" y="28575"/>
                </a:lnTo>
                <a:lnTo>
                  <a:pt x="5981700" y="4949825"/>
                </a:lnTo>
                <a:lnTo>
                  <a:pt x="5967412" y="4949825"/>
                </a:lnTo>
                <a:lnTo>
                  <a:pt x="5953125" y="4964112"/>
                </a:lnTo>
                <a:close/>
              </a:path>
              <a:path w="5981700" h="4978400">
                <a:moveTo>
                  <a:pt x="5981700" y="28575"/>
                </a:moveTo>
                <a:lnTo>
                  <a:pt x="5967412" y="28575"/>
                </a:lnTo>
                <a:lnTo>
                  <a:pt x="5953125" y="14287"/>
                </a:lnTo>
                <a:lnTo>
                  <a:pt x="5981700" y="14287"/>
                </a:lnTo>
                <a:lnTo>
                  <a:pt x="5981700" y="28575"/>
                </a:lnTo>
                <a:close/>
              </a:path>
              <a:path w="5981700" h="4978400">
                <a:moveTo>
                  <a:pt x="28575" y="4964112"/>
                </a:moveTo>
                <a:lnTo>
                  <a:pt x="14287" y="4949825"/>
                </a:lnTo>
                <a:lnTo>
                  <a:pt x="28575" y="4949825"/>
                </a:lnTo>
                <a:lnTo>
                  <a:pt x="28575" y="4964112"/>
                </a:lnTo>
                <a:close/>
              </a:path>
              <a:path w="5981700" h="4978400">
                <a:moveTo>
                  <a:pt x="5953125" y="4964112"/>
                </a:moveTo>
                <a:lnTo>
                  <a:pt x="28575" y="4964112"/>
                </a:lnTo>
                <a:lnTo>
                  <a:pt x="28575" y="4949825"/>
                </a:lnTo>
                <a:lnTo>
                  <a:pt x="5953125" y="4949825"/>
                </a:lnTo>
                <a:lnTo>
                  <a:pt x="5953125" y="4964112"/>
                </a:lnTo>
                <a:close/>
              </a:path>
              <a:path w="5981700" h="4978400">
                <a:moveTo>
                  <a:pt x="5981700" y="4964112"/>
                </a:moveTo>
                <a:lnTo>
                  <a:pt x="5953125" y="4964112"/>
                </a:lnTo>
                <a:lnTo>
                  <a:pt x="5967412" y="4949825"/>
                </a:lnTo>
                <a:lnTo>
                  <a:pt x="5981700" y="4949825"/>
                </a:lnTo>
                <a:lnTo>
                  <a:pt x="5981700" y="4964112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28600" y="3886200"/>
            <a:ext cx="5105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u="sng" dirty="0"/>
              <a:t>Impact on target audience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4267200"/>
            <a:ext cx="41171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Courier New" pitchFamily="49" charset="0"/>
              <a:buChar char="o"/>
            </a:pPr>
            <a:r>
              <a:rPr lang="en-US" b="1" dirty="0">
                <a:latin typeface="+mn-lt"/>
              </a:rPr>
              <a:t> Faster Verification</a:t>
            </a:r>
          </a:p>
          <a:p>
            <a:pPr>
              <a:buFont typeface="Courier New" pitchFamily="49" charset="0"/>
              <a:buChar char="o"/>
            </a:pPr>
            <a:r>
              <a:rPr lang="en-US" b="1" dirty="0">
                <a:latin typeface="+mn-lt"/>
              </a:rPr>
              <a:t> Improved Security</a:t>
            </a:r>
          </a:p>
          <a:p>
            <a:pPr>
              <a:buFont typeface="Courier New" pitchFamily="49" charset="0"/>
              <a:buChar char="o"/>
            </a:pPr>
            <a:r>
              <a:rPr lang="en-US" b="1" dirty="0">
                <a:latin typeface="+mn-lt"/>
              </a:rPr>
              <a:t> Accurate Identification</a:t>
            </a:r>
          </a:p>
          <a:p>
            <a:pPr>
              <a:buFont typeface="Courier New" pitchFamily="49" charset="0"/>
              <a:buChar char="o"/>
            </a:pPr>
            <a:r>
              <a:rPr lang="en-US" b="1" dirty="0">
                <a:latin typeface="+mn-lt"/>
              </a:rPr>
              <a:t> Reduced Workload </a:t>
            </a:r>
          </a:p>
          <a:p>
            <a:pPr>
              <a:buFont typeface="Courier New" pitchFamily="49" charset="0"/>
              <a:buChar char="o"/>
            </a:pPr>
            <a:r>
              <a:rPr lang="en-US" b="1" dirty="0">
                <a:latin typeface="+mn-lt"/>
              </a:rPr>
              <a:t> Transparent Screening</a:t>
            </a:r>
          </a:p>
          <a:p>
            <a:endParaRPr lang="en-US" b="1" dirty="0">
              <a:latin typeface="+mn-lt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79454" y="228600"/>
            <a:ext cx="17315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latin typeface="Cambria" pitchFamily="18" charset="0"/>
                <a:ea typeface="Cambria" pitchFamily="18" charset="0"/>
              </a:rPr>
              <a:t>RISU NEXORA</a:t>
            </a:r>
            <a:endParaRPr lang="en-IN" sz="2000" b="1" dirty="0">
              <a:latin typeface="Cambria" pitchFamily="18" charset="0"/>
              <a:ea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1C5322-CC5B-EA92-0770-0B4CF94FF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8592" y="886141"/>
            <a:ext cx="5652770" cy="5139869"/>
          </a:xfrm>
        </p:spPr>
        <p:txBody>
          <a:bodyPr/>
          <a:lstStyle/>
          <a:p>
            <a:pPr algn="ctr"/>
            <a:endParaRPr lang="en-US" sz="2000" b="1" u="sng" dirty="0"/>
          </a:p>
          <a:p>
            <a:pPr algn="ctr"/>
            <a:r>
              <a:rPr lang="en-US" sz="2000" b="1" u="sng" dirty="0"/>
              <a:t>Long-Term Strategic Value</a:t>
            </a:r>
          </a:p>
          <a:p>
            <a:pPr algn="ctr"/>
            <a:endParaRPr lang="en-US" sz="2000" b="1" dirty="0"/>
          </a:p>
          <a:p>
            <a:pPr algn="ctr"/>
            <a:r>
              <a:rPr lang="en-US" sz="2000" b="1" dirty="0"/>
              <a:t>PHASE 1</a:t>
            </a:r>
          </a:p>
          <a:p>
            <a:pPr algn="ctr"/>
            <a:r>
              <a:rPr lang="en-US" sz="1800" b="1" dirty="0"/>
              <a:t>Capture &amp; Digitize</a:t>
            </a:r>
            <a:br>
              <a:rPr lang="en-US" sz="1800" dirty="0"/>
            </a:br>
            <a:r>
              <a:rPr lang="en-US" sz="1800" dirty="0"/>
              <a:t>↓</a:t>
            </a:r>
          </a:p>
          <a:p>
            <a:pPr algn="ctr"/>
            <a:r>
              <a:rPr lang="en-US" sz="1800" b="1" dirty="0"/>
              <a:t>PHASE 2</a:t>
            </a:r>
          </a:p>
          <a:p>
            <a:pPr algn="ctr"/>
            <a:r>
              <a:rPr lang="en-US" sz="1800" b="1" dirty="0"/>
              <a:t>Extract &amp; Validate</a:t>
            </a:r>
            <a:br>
              <a:rPr lang="en-US" sz="1800" dirty="0"/>
            </a:br>
            <a:r>
              <a:rPr lang="en-US" sz="1800" dirty="0"/>
              <a:t>↓</a:t>
            </a:r>
          </a:p>
          <a:p>
            <a:pPr algn="ctr"/>
            <a:r>
              <a:rPr lang="en-US" sz="1800" b="1" dirty="0"/>
              <a:t>PHASE 3</a:t>
            </a:r>
          </a:p>
          <a:p>
            <a:pPr algn="ctr"/>
            <a:r>
              <a:rPr lang="en-US" sz="1800" b="1" dirty="0"/>
              <a:t>AI Forensics &amp; Face Verification</a:t>
            </a:r>
            <a:br>
              <a:rPr lang="en-US" sz="1800" dirty="0"/>
            </a:br>
            <a:r>
              <a:rPr lang="en-US" sz="1800" dirty="0"/>
              <a:t>↓</a:t>
            </a:r>
          </a:p>
          <a:p>
            <a:pPr algn="ctr"/>
            <a:r>
              <a:rPr lang="en-US" sz="1800" b="1" dirty="0"/>
              <a:t>PHASE 4</a:t>
            </a:r>
          </a:p>
          <a:p>
            <a:pPr algn="ctr"/>
            <a:r>
              <a:rPr lang="en-US" sz="1800" b="1" dirty="0"/>
              <a:t>Identity Consistency &amp; Risk Analysis</a:t>
            </a:r>
            <a:br>
              <a:rPr lang="en-US" sz="1800" dirty="0"/>
            </a:br>
            <a:r>
              <a:rPr lang="en-US" sz="1800" dirty="0"/>
              <a:t>↓</a:t>
            </a:r>
          </a:p>
          <a:p>
            <a:pPr algn="ctr"/>
            <a:r>
              <a:rPr lang="en-US" sz="1800" b="1" dirty="0"/>
              <a:t>PHASE 5</a:t>
            </a:r>
          </a:p>
          <a:p>
            <a:pPr algn="ctr"/>
            <a:r>
              <a:rPr lang="en-US" sz="1800" b="1" dirty="0"/>
              <a:t>Secure Decision &amp; </a:t>
            </a:r>
            <a:r>
              <a:rPr lang="en-US" sz="1800" b="1" dirty="0" err="1"/>
              <a:t>Blockchain</a:t>
            </a:r>
            <a:r>
              <a:rPr lang="en-US" sz="1800" b="1" dirty="0"/>
              <a:t> Audit</a:t>
            </a:r>
            <a:endParaRPr lang="en-US" sz="1800" dirty="0"/>
          </a:p>
          <a:p>
            <a:pPr algn="l"/>
            <a:endParaRPr lang="en-US" sz="2000" dirty="0"/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8E2BDA1C-50AA-D994-8AE9-DE5DEEAB65D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319" y="185496"/>
            <a:ext cx="2234285" cy="528320"/>
          </a:xfrm>
          <a:prstGeom prst="rect">
            <a:avLst/>
          </a:prstGeom>
        </p:spPr>
      </p:pic>
      <p:sp>
        <p:nvSpPr>
          <p:cNvPr id="8" name="object 7">
            <a:extLst>
              <a:ext uri="{FF2B5EF4-FFF2-40B4-BE49-F238E27FC236}">
                <a16:creationId xmlns:a16="http://schemas.microsoft.com/office/drawing/2014/main" id="{E74A3874-5374-15B9-36B9-266265F233EF}"/>
              </a:ext>
            </a:extLst>
          </p:cNvPr>
          <p:cNvSpPr/>
          <p:nvPr/>
        </p:nvSpPr>
        <p:spPr>
          <a:xfrm>
            <a:off x="168592" y="848042"/>
            <a:ext cx="11960860" cy="5399405"/>
          </a:xfrm>
          <a:custGeom>
            <a:avLst/>
            <a:gdLst/>
            <a:ahLst/>
            <a:cxnLst/>
            <a:rect l="l" t="t" r="r" b="b"/>
            <a:pathLst>
              <a:path w="11960860" h="5399405">
                <a:moveTo>
                  <a:pt x="11946572" y="5399405"/>
                </a:moveTo>
                <a:lnTo>
                  <a:pt x="14287" y="5399405"/>
                </a:lnTo>
                <a:lnTo>
                  <a:pt x="11506" y="5399125"/>
                </a:lnTo>
                <a:lnTo>
                  <a:pt x="0" y="5385117"/>
                </a:lnTo>
                <a:lnTo>
                  <a:pt x="0" y="14287"/>
                </a:lnTo>
                <a:lnTo>
                  <a:pt x="14287" y="0"/>
                </a:lnTo>
                <a:lnTo>
                  <a:pt x="11946572" y="0"/>
                </a:lnTo>
                <a:lnTo>
                  <a:pt x="11960860" y="14287"/>
                </a:lnTo>
                <a:lnTo>
                  <a:pt x="28575" y="14287"/>
                </a:lnTo>
                <a:lnTo>
                  <a:pt x="14287" y="28575"/>
                </a:lnTo>
                <a:lnTo>
                  <a:pt x="28575" y="28575"/>
                </a:lnTo>
                <a:lnTo>
                  <a:pt x="28575" y="5370830"/>
                </a:lnTo>
                <a:lnTo>
                  <a:pt x="14287" y="5370830"/>
                </a:lnTo>
                <a:lnTo>
                  <a:pt x="28575" y="5385117"/>
                </a:lnTo>
                <a:lnTo>
                  <a:pt x="11960860" y="5385117"/>
                </a:lnTo>
                <a:lnTo>
                  <a:pt x="11960580" y="5387898"/>
                </a:lnTo>
                <a:lnTo>
                  <a:pt x="11949353" y="5399125"/>
                </a:lnTo>
                <a:lnTo>
                  <a:pt x="11946572" y="5399405"/>
                </a:lnTo>
                <a:close/>
              </a:path>
              <a:path w="11960860" h="5399405">
                <a:moveTo>
                  <a:pt x="28575" y="28575"/>
                </a:moveTo>
                <a:lnTo>
                  <a:pt x="14287" y="28575"/>
                </a:lnTo>
                <a:lnTo>
                  <a:pt x="28575" y="14287"/>
                </a:lnTo>
                <a:lnTo>
                  <a:pt x="28575" y="28575"/>
                </a:lnTo>
                <a:close/>
              </a:path>
              <a:path w="11960860" h="5399405">
                <a:moveTo>
                  <a:pt x="11932285" y="28575"/>
                </a:moveTo>
                <a:lnTo>
                  <a:pt x="28575" y="28575"/>
                </a:lnTo>
                <a:lnTo>
                  <a:pt x="28575" y="14287"/>
                </a:lnTo>
                <a:lnTo>
                  <a:pt x="11932285" y="14287"/>
                </a:lnTo>
                <a:lnTo>
                  <a:pt x="11932285" y="28575"/>
                </a:lnTo>
                <a:close/>
              </a:path>
              <a:path w="11960860" h="5399405">
                <a:moveTo>
                  <a:pt x="11932285" y="5385117"/>
                </a:moveTo>
                <a:lnTo>
                  <a:pt x="11932285" y="14287"/>
                </a:lnTo>
                <a:lnTo>
                  <a:pt x="11946572" y="28575"/>
                </a:lnTo>
                <a:lnTo>
                  <a:pt x="11960860" y="28575"/>
                </a:lnTo>
                <a:lnTo>
                  <a:pt x="11960860" y="5370830"/>
                </a:lnTo>
                <a:lnTo>
                  <a:pt x="11946572" y="5370830"/>
                </a:lnTo>
                <a:lnTo>
                  <a:pt x="11932285" y="5385117"/>
                </a:lnTo>
                <a:close/>
              </a:path>
              <a:path w="11960860" h="5399405">
                <a:moveTo>
                  <a:pt x="11960860" y="28575"/>
                </a:moveTo>
                <a:lnTo>
                  <a:pt x="11946572" y="28575"/>
                </a:lnTo>
                <a:lnTo>
                  <a:pt x="11932285" y="14287"/>
                </a:lnTo>
                <a:lnTo>
                  <a:pt x="11960860" y="14287"/>
                </a:lnTo>
                <a:lnTo>
                  <a:pt x="11960860" y="28575"/>
                </a:lnTo>
                <a:close/>
              </a:path>
              <a:path w="11960860" h="5399405">
                <a:moveTo>
                  <a:pt x="28575" y="5385117"/>
                </a:moveTo>
                <a:lnTo>
                  <a:pt x="14287" y="5370830"/>
                </a:lnTo>
                <a:lnTo>
                  <a:pt x="28575" y="5370830"/>
                </a:lnTo>
                <a:lnTo>
                  <a:pt x="28575" y="5385117"/>
                </a:lnTo>
                <a:close/>
              </a:path>
              <a:path w="11960860" h="5399405">
                <a:moveTo>
                  <a:pt x="11932285" y="5385117"/>
                </a:moveTo>
                <a:lnTo>
                  <a:pt x="28575" y="5385117"/>
                </a:lnTo>
                <a:lnTo>
                  <a:pt x="28575" y="5370830"/>
                </a:lnTo>
                <a:lnTo>
                  <a:pt x="11932285" y="5370830"/>
                </a:lnTo>
                <a:lnTo>
                  <a:pt x="11932285" y="5385117"/>
                </a:lnTo>
                <a:close/>
              </a:path>
              <a:path w="11960860" h="5399405">
                <a:moveTo>
                  <a:pt x="11960860" y="5385117"/>
                </a:moveTo>
                <a:lnTo>
                  <a:pt x="11932285" y="5385117"/>
                </a:lnTo>
                <a:lnTo>
                  <a:pt x="11946572" y="5370830"/>
                </a:lnTo>
                <a:lnTo>
                  <a:pt x="11960860" y="5370830"/>
                </a:lnTo>
                <a:lnTo>
                  <a:pt x="11960860" y="5385117"/>
                </a:lnTo>
                <a:close/>
              </a:path>
            </a:pathLst>
          </a:custGeom>
          <a:solidFill>
            <a:srgbClr val="006F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11">
            <a:extLst>
              <a:ext uri="{FF2B5EF4-FFF2-40B4-BE49-F238E27FC236}">
                <a16:creationId xmlns:a16="http://schemas.microsoft.com/office/drawing/2014/main" id="{C8C79C8F-1950-8514-0C77-0F4BF57387E2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11368405" y="6441271"/>
            <a:ext cx="173990" cy="1962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25"/>
              </a:lnSpc>
            </a:pPr>
            <a:fld id="{81D60167-4931-47E6-BA6A-407CBD079E47}" type="slidenum">
              <a:rPr spc="-50" dirty="0"/>
              <a:pPr marL="38100">
                <a:lnSpc>
                  <a:spcPts val="1425"/>
                </a:lnSpc>
              </a:pPr>
              <a:t>6</a:t>
            </a:fld>
            <a:endParaRPr spc="-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64A490-2AD5-A8BC-890F-32DB6388557E}"/>
              </a:ext>
            </a:extLst>
          </p:cNvPr>
          <p:cNvSpPr txBox="1"/>
          <p:nvPr/>
        </p:nvSpPr>
        <p:spPr>
          <a:xfrm>
            <a:off x="5396548" y="851353"/>
            <a:ext cx="6795452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endParaRPr lang="en-US" sz="2000" b="1" u="sng" dirty="0"/>
          </a:p>
          <a:p>
            <a:pPr lvl="1" algn="ctr"/>
            <a:r>
              <a:rPr lang="en-US" sz="2000" b="1" u="sng" dirty="0"/>
              <a:t>Benefits of the solution</a:t>
            </a:r>
          </a:p>
          <a:p>
            <a:pPr lvl="1" algn="ctr"/>
            <a:endParaRPr lang="en-US" sz="2000" b="1" dirty="0"/>
          </a:p>
          <a:p>
            <a:r>
              <a:rPr lang="en-US" sz="1500" b="1" dirty="0"/>
              <a:t>Faster Screening</a:t>
            </a:r>
            <a:r>
              <a:rPr lang="en-US" sz="1500" dirty="0"/>
              <a:t> – Reduces verification time from minutes to seconds.</a:t>
            </a:r>
          </a:p>
          <a:p>
            <a:endParaRPr lang="en-US" sz="1500" dirty="0"/>
          </a:p>
          <a:p>
            <a:r>
              <a:rPr lang="en-US" sz="1500" b="1" dirty="0"/>
              <a:t>Enhanced Fraud Detection</a:t>
            </a:r>
            <a:r>
              <a:rPr lang="en-US" sz="1500" dirty="0"/>
              <a:t> – Identifies forged, altered and suspicious documents.</a:t>
            </a:r>
          </a:p>
          <a:p>
            <a:endParaRPr lang="en-US" sz="1500" dirty="0"/>
          </a:p>
          <a:p>
            <a:r>
              <a:rPr lang="en-US" sz="1500" b="1" dirty="0"/>
              <a:t>Accurate Identity Verification</a:t>
            </a:r>
            <a:r>
              <a:rPr lang="en-US" sz="1500" dirty="0"/>
              <a:t> – Cross-checks documents with live facial identity.</a:t>
            </a:r>
          </a:p>
          <a:p>
            <a:endParaRPr lang="en-US" sz="1500" dirty="0"/>
          </a:p>
          <a:p>
            <a:r>
              <a:rPr lang="en-US" sz="1500" b="1" dirty="0"/>
              <a:t>Reduced Manual Effort</a:t>
            </a:r>
            <a:r>
              <a:rPr lang="en-US" sz="1500" dirty="0"/>
              <a:t> – Automates repetitive verification and validation tasks.</a:t>
            </a:r>
          </a:p>
          <a:p>
            <a:endParaRPr lang="en-US" sz="1500" dirty="0"/>
          </a:p>
          <a:p>
            <a:r>
              <a:rPr lang="en-US" sz="1500" b="1" dirty="0"/>
              <a:t>Explainable Risk Assessment</a:t>
            </a:r>
            <a:r>
              <a:rPr lang="en-US" sz="1500" dirty="0"/>
              <a:t> – Provides clear reasons behind suspicious flags.</a:t>
            </a:r>
          </a:p>
          <a:p>
            <a:endParaRPr lang="en-US" sz="1500" dirty="0"/>
          </a:p>
          <a:p>
            <a:r>
              <a:rPr lang="en-US" sz="1500" b="1" dirty="0"/>
              <a:t>Secure &amp; Privacy-Preserving</a:t>
            </a:r>
            <a:r>
              <a:rPr lang="en-US" sz="1500" dirty="0"/>
              <a:t> – Protects sensitive identity and biometric data.</a:t>
            </a:r>
          </a:p>
          <a:p>
            <a:endParaRPr lang="en-US" sz="1500" dirty="0"/>
          </a:p>
          <a:p>
            <a:r>
              <a:rPr lang="en-US" sz="1500" b="1" dirty="0"/>
              <a:t>Tamper-Proof Audit Trail</a:t>
            </a:r>
            <a:r>
              <a:rPr lang="en-US" sz="1500" dirty="0"/>
              <a:t> – Maintains trusted verification records using </a:t>
            </a:r>
            <a:r>
              <a:rPr lang="en-US" sz="1500" dirty="0" err="1"/>
              <a:t>blockchain</a:t>
            </a:r>
            <a:r>
              <a:rPr lang="en-US" sz="1500" dirty="0"/>
              <a:t>.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CA9CD3-99CC-9C68-F29A-FACFC498EE77}"/>
              </a:ext>
            </a:extLst>
          </p:cNvPr>
          <p:cNvSpPr txBox="1"/>
          <p:nvPr/>
        </p:nvSpPr>
        <p:spPr>
          <a:xfrm>
            <a:off x="4901725" y="27524"/>
            <a:ext cx="31614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000" b="1" u="sng" dirty="0">
                <a:latin typeface="Bell MT" pitchFamily="18" charset="0"/>
              </a:rPr>
              <a:t>VERIFEX AI</a:t>
            </a:r>
            <a:endParaRPr lang="en-IN" sz="24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F8BC277-AD75-1C8B-E121-CBD1A0634D34}"/>
              </a:ext>
            </a:extLst>
          </p:cNvPr>
          <p:cNvSpPr txBox="1"/>
          <p:nvPr/>
        </p:nvSpPr>
        <p:spPr>
          <a:xfrm>
            <a:off x="3861725" y="6428601"/>
            <a:ext cx="413927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Mined from the core. Mastered by algorithms. Made for impact.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62726A-889D-F127-037F-A24221ABE1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8486" y="0"/>
            <a:ext cx="1762309" cy="8321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55654" y="228600"/>
            <a:ext cx="173156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2000" dirty="0">
                <a:latin typeface="Cambria" pitchFamily="18" charset="0"/>
                <a:ea typeface="Cambria" pitchFamily="18" charset="0"/>
              </a:rPr>
              <a:t>RISU NEXORA</a:t>
            </a:r>
            <a:endParaRPr lang="en-IN" sz="2000" b="1" dirty="0">
              <a:latin typeface="Cambria" pitchFamily="18" charset="0"/>
              <a:ea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52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935</TotalTime>
  <Words>948</Words>
  <Application>Microsoft Office PowerPoint</Application>
  <PresentationFormat>Widescreen</PresentationFormat>
  <Paragraphs>227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Aptos</vt:lpstr>
      <vt:lpstr>Arial</vt:lpstr>
      <vt:lpstr>Arial MT</vt:lpstr>
      <vt:lpstr>Bell MT</vt:lpstr>
      <vt:lpstr>Calibri</vt:lpstr>
      <vt:lpstr>Cambria</vt:lpstr>
      <vt:lpstr>Courier New</vt:lpstr>
      <vt:lpstr>Garamond</vt:lpstr>
      <vt:lpstr>Times New Roman</vt:lpstr>
      <vt:lpstr>Wingdings</vt:lpstr>
      <vt:lpstr>Office Theme</vt:lpstr>
      <vt:lpstr>PowerPoint Presentation</vt:lpstr>
      <vt:lpstr>RISU NEXORA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Mohit Raj</dc:creator>
  <cp:lastModifiedBy>Rachit Gupta</cp:lastModifiedBy>
  <cp:revision>37</cp:revision>
  <dcterms:created xsi:type="dcterms:W3CDTF">2026-08-23T15:19:19Z</dcterms:created>
  <dcterms:modified xsi:type="dcterms:W3CDTF">2026-09-16T18:01:17Z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2025-10-05T00:00:00Z</vt:filetime>
  </property>
  <property fmtid="{D5CDD505-2E9C-101B-9397-08002B2CF9AE}" pid="4" name="Creator">
    <vt:lpwstr>WPS Presentation</vt:lpwstr>
  </property>
  <property fmtid="{D5CDD505-2E9C-101B-9397-08002B2CF9AE}" pid="5" name="LastSaved">
    <vt:filetime>2026-08-23T00:00:00Z</vt:filetime>
  </property>
  <property fmtid="{D5CDD505-2E9C-101B-9397-08002B2CF9AE}" pid="6" name="Producer">
    <vt:lpwstr>macOS Version 15.6.1 (Build 24G90) Quartz PDFContext</vt:lpwstr>
  </property>
  <property fmtid="{D5CDD505-2E9C-101B-9397-08002B2CF9AE}" pid="7" name="SourceModified">
    <vt:lpwstr>D:20251005130338+00'00'</vt:lpwstr>
  </property>
</Properties>
</file>